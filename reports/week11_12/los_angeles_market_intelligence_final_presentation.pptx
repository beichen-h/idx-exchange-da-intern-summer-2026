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4c86363c5a4fab" /><Relationship Type="http://schemas.openxmlformats.org/officeDocument/2006/relationships/extended-properties" Target="/docProps/app.xml" Id="R637c5951a01b4b95" /><Relationship Type="http://schemas.openxmlformats.org/officeDocument/2006/relationships/officeDocument" Target="/ppt/presentation.xml" Id="Rad07c2a7366942e9" /></Relationships>
</file>

<file path=ppt/presentation.xml><?xml version="1.0" encoding="utf-8"?>
<p:presentation xmlns:p="http://schemas.openxmlformats.org/presentationml/2006/main">
  <p:sldMasterIdLst>
    <p:sldMasterId xmlns:r="http://schemas.openxmlformats.org/officeDocument/2006/relationships" id="2147483648" r:id="R1bef4d421b004f90"/>
  </p:sldMasterIdLst>
  <p:notesMasterIdLst>
    <p:notesMasterId xmlns:r="http://schemas.openxmlformats.org/officeDocument/2006/relationships" r:id="R802a185dde62497b"/>
  </p:notesMasterIdLst>
  <p:sldIdLst>
    <p:sldId xmlns:r="http://schemas.openxmlformats.org/officeDocument/2006/relationships" id="256" r:id="R6a415d3676964c41"/>
    <p:sldId xmlns:r="http://schemas.openxmlformats.org/officeDocument/2006/relationships" id="257" r:id="Re7d66de12f524800"/>
    <p:sldId xmlns:r="http://schemas.openxmlformats.org/officeDocument/2006/relationships" id="258" r:id="R21271839b830489e"/>
    <p:sldId xmlns:r="http://schemas.openxmlformats.org/officeDocument/2006/relationships" id="259" r:id="R2b55eb5402aa4671"/>
    <p:sldId xmlns:r="http://schemas.openxmlformats.org/officeDocument/2006/relationships" id="260" r:id="R8747680f9ac34a74"/>
    <p:sldId xmlns:r="http://schemas.openxmlformats.org/officeDocument/2006/relationships" id="261" r:id="Rdbe63b42879e43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76b68ed3074fe2" /><Relationship Type="http://schemas.openxmlformats.org/officeDocument/2006/relationships/slideMaster" Target="/ppt/slideMasters/slideMaster1.xml" Id="R1bef4d421b004f90" /><Relationship Type="http://schemas.openxmlformats.org/officeDocument/2006/relationships/notesMaster" Target="/ppt/notesMasters/notesMaster1.xml" Id="R802a185dde62497b" /><Relationship Type="http://schemas.openxmlformats.org/officeDocument/2006/relationships/presProps" Target="/ppt/presProps.xml" Id="Rb0ec301caac34bea" /><Relationship Type="http://schemas.openxmlformats.org/officeDocument/2006/relationships/tableStyles" Target="/ppt/tableStyles.xml" Id="R6acd8655bc2d4270" /><Relationship Type="http://schemas.openxmlformats.org/officeDocument/2006/relationships/slide" Target="/ppt/slides/slide1.xml" Id="R6a415d3676964c41" /><Relationship Type="http://schemas.openxmlformats.org/officeDocument/2006/relationships/slide" Target="/ppt/slides/slide2.xml" Id="Re7d66de12f524800" /><Relationship Type="http://schemas.openxmlformats.org/officeDocument/2006/relationships/slide" Target="/ppt/slides/slide3.xml" Id="R21271839b830489e" /><Relationship Type="http://schemas.openxmlformats.org/officeDocument/2006/relationships/slide" Target="/ppt/slides/slide4.xml" Id="R2b55eb5402aa4671" /><Relationship Type="http://schemas.openxmlformats.org/officeDocument/2006/relationships/slide" Target="/ppt/slides/slide5.xml" Id="R8747680f9ac34a74" /><Relationship Type="http://schemas.openxmlformats.org/officeDocument/2006/relationships/slide" Target="/ppt/slides/slide6.xml" Id="Rdbe63b42879e43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158198ddfb4c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b639eb0f774d63" /><Relationship Type="http://schemas.openxmlformats.org/officeDocument/2006/relationships/notesMaster" Target="/ppt/notesMasters/notesMaster1.xml" Id="Rcb74135bf5384f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56397f6f764172" /><Relationship Type="http://schemas.openxmlformats.org/officeDocument/2006/relationships/notesMaster" Target="/ppt/notesMasters/notesMaster1.xml" Id="R2a27a7b5ba11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a7ef282f0a423a" /><Relationship Type="http://schemas.openxmlformats.org/officeDocument/2006/relationships/notesMaster" Target="/ppt/notesMasters/notesMaster1.xml" Id="Rf08860faf0e641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a31a84f1794f18" /><Relationship Type="http://schemas.openxmlformats.org/officeDocument/2006/relationships/notesMaster" Target="/ppt/notesMasters/notesMaster1.xml" Id="R923d5a44436740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cdb349e74d4226" /><Relationship Type="http://schemas.openxmlformats.org/officeDocument/2006/relationships/notesMaster" Target="/ppt/notesMasters/notesMaster1.xml" Id="R804b276ba0c049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4c8ade4b254b6c" /><Relationship Type="http://schemas.openxmlformats.org/officeDocument/2006/relationships/notesMaster" Target="/ppt/notesMasters/notesMaster1.xml" Id="Rdf3a830504a9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Today I will present a market intelligence review of the Los Angeles County residential market. The data covers January 2024 through June 2026. For the main comparisons, I use the latest twelve months, from July 2025 through June 2026, and compare them with the previous twelve months. I focus on five questions: what happened to prices, how quickly homes sold, how closely closing prices tracked original list prices, whether market activity expanded or contracted, and which agents and offices led the market. I also applied business rules and interquartile range screens so that extreme or invalid records would not distort the typical market story.</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finding is that prices remained stable while the selling process became slower. The median closing price in the latest twelve months was $865,000. That represents an increase of only 0.6 percent from the previous twelve months, so this is a mostly flat price environment. At the same time, median days on market increased from 16 days to 18 days. That is a 12.5 percent increase. Closed sales totaled 36,286, which was 1.9 percent lower. Taken together, these measures show that buyers needed more time to make decisions, even though the median price did not fall materially.</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pricing measures provide more evidence of a modest shift in negotiating conditions. Median price per square foot was $587, down 1.0 percent from the previous twelve months. The median closing price was 99.7 percent of the original list price. That ratio declined by approximately 0.3 percentage points. A typical property still sold very close to its original asking price, so the data does not indicate widespread distress. However, the combination of slightly lower price per square foot, a lower sale-to-original-list ratio, and longer market time suggests that accurate initial pricing became more important. Sellers who started above market evidence faced a greater risk of waiting longer or accepting a reduction.</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activity also softened, but listings declined more sharply than completed sales. New listings totaled 60,213 during the latest twelve months, down 7.1 percent. Closed sales totaled 36,286, down 1.9 percent. Closed transaction volume was $35.7B, a decline of 1.3 percent. The monthly chart also shows the normal seasonal pattern, with activity strengthening during the spring. The important comparison is the difference in the annual changes. Fewer properties entered the market, while the decline in completed sales was much smaller. This helped prevent a large increase in available supply and supported the relatively stable median price.</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competitive analysis identifies the leading listing agents and offices within the cleaned Los Angeles County sample. Compass ranked first among listing offices with $3.1B in closed volume and 2,552 units. Cesi Pagano ranked first among listing agents by closed volume, with approximately $127.8M and 132 units. The remaining rankings show that both large brokerages and productive individual agents contribute meaningful volume. The Tableau competitive workbook allows the user to filter these rankings by month, city, county, ZIP code, and property subtype. Those filters are important because countywide rank can hide local strength. An office that ranks lower across the full county may lead a specific ZIP code or property segment.</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close with five conclusions. First, Los Angeles County prices were stable, with the median closing price increasing only 0.6 percent. Second, homes took longer to sell, as median days on market increased from 16 to 18 days. Third, buyers gained modest negotiating room because the sale-to-original-list ratio and price per square foot both declined slightly. Fourth, new listings fell faster than closed sales, which limited the increase in supply. Fifth, competitive performance depends on the local segment, so agent and office rankings should be reviewed by ZIP code and property subtype. For sellers, the practical implication is to price from current comparable sales. Buyers can use the slower pace to compare alternatives and negotiate carefully. Brokerages can use the dashboard to identify local markets where their unit share or sales volume has room to improve. Thank you, and I am happy to answer questions.</a:t>
            </a:r>
          </a:p>
          <a:p xmlns:a="http://schemas.openxmlformats.org/drawingml/2006/main">
            <a:r>
              <a:t/>
            </a:r>
          </a:p>
          <a:p xmlns:a="http://schemas.openxmlformats.org/drawingml/2006/main">
            <a:r>
              <a:t>[Sources]</a:t>
            </a:r>
          </a:p>
          <a:p xmlns:a="http://schemas.openxmlformats.org/drawingml/2006/main">
            <a:r>
              <a:t>- CRMLS Residential listing and sold exports, January 2024 through June 2026.</a:t>
            </a:r>
          </a:p>
          <a:p xmlns:a="http://schemas.openxmlformats.org/drawingml/2006/main">
            <a:r>
              <a:t>- Analysis summary generated by py/week11_12_market_intelligence.py; latest 12 months compared with prior 12 months; 1.5x IQR screens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9b04b08ec4d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ee202f652b49e6" /><Relationship Type="http://schemas.openxmlformats.org/officeDocument/2006/relationships/slideLayout" Target="/ppt/slideLayouts/slideLayout1.xml" Id="Rabe6e213f087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6e213f087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1e85bac2194a49" /><Relationship Type="http://schemas.openxmlformats.org/officeDocument/2006/relationships/notesSlide" Target="/ppt/notesSlides/notesSlide1.xml" Id="R9a1630f3befc4f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1d5aa79d684da0" /><Relationship Type="http://schemas.openxmlformats.org/officeDocument/2006/relationships/notesSlide" Target="/ppt/notesSlides/notesSlide2.xml" Id="Rd76f491fa1dd4f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4a0b39cdb549e3" /><Relationship Type="http://schemas.openxmlformats.org/officeDocument/2006/relationships/chart" Target="/ppt/slides/charts/chart1.xml" Id="R67e526a3e1b64037" /><Relationship Type="http://schemas.openxmlformats.org/officeDocument/2006/relationships/notesSlide" Target="/ppt/notesSlides/notesSlide3.xml" Id="Rafec1f20f92b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2f56c441af4760" /><Relationship Type="http://schemas.openxmlformats.org/officeDocument/2006/relationships/chart" Target="/ppt/slides/charts/chart2.xml" Id="R51569681e81b4d32" /><Relationship Type="http://schemas.openxmlformats.org/officeDocument/2006/relationships/notesSlide" Target="/ppt/notesSlides/notesSlide4.xml" Id="Rdf261785fb2049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d9559db04244d0" /><Relationship Type="http://schemas.openxmlformats.org/officeDocument/2006/relationships/notesSlide" Target="/ppt/notesSlides/notesSlide5.xml" Id="R24b61f6bb77b44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c1c652a042468c" /><Relationship Type="http://schemas.openxmlformats.org/officeDocument/2006/relationships/notesSlide" Target="/ppt/notesSlides/notesSlide6.xml" Id="R8f3b471a065a40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Median close price</c:v>
          </c:tx>
          <c:spPr>
            <a:solidFill xmlns:a="http://schemas.openxmlformats.org/drawingml/2006/main">
              <a:srgbClr val="2878B8"/>
            </a:solidFill>
          </c:spPr>
          <c:marker>
            <c:symbol val="none"/>
          </c:marker>
          <c:cat>
            <c:strRef>
              <c:f>'Chart Data'!$A$2:$A$31</c:f>
              <c:strCache>
                <c:ptCount val="30"/>
                <c:pt idx="0">
                  <c:v>2024-01</c:v>
                </c:pt>
                <c:pt idx="1">
                  <c:v>2024-02</c:v>
                </c:pt>
                <c:pt idx="2">
                  <c:v>2024-03</c:v>
                </c:pt>
                <c:pt idx="3">
                  <c:v>2024-04</c:v>
                </c:pt>
                <c:pt idx="4">
                  <c:v>2024-05</c:v>
                </c:pt>
                <c:pt idx="5">
                  <c:v>2024-06</c:v>
                </c:pt>
                <c:pt idx="6">
                  <c:v>2024-07</c:v>
                </c:pt>
                <c:pt idx="7">
                  <c:v>2024-08</c:v>
                </c:pt>
                <c:pt idx="8">
                  <c:v>2024-09</c:v>
                </c:pt>
                <c:pt idx="9">
                  <c:v>2024-10</c:v>
                </c:pt>
                <c:pt idx="10">
                  <c:v>2024-11</c:v>
                </c:pt>
                <c:pt idx="11">
                  <c:v>2024-12</c:v>
                </c:pt>
                <c:pt idx="12">
                  <c:v>2025-01</c:v>
                </c:pt>
                <c:pt idx="13">
                  <c:v>2025-02</c:v>
                </c:pt>
                <c:pt idx="14">
                  <c:v>2025-03</c:v>
                </c:pt>
                <c:pt idx="15">
                  <c:v>2025-04</c:v>
                </c:pt>
                <c:pt idx="16">
                  <c:v>2025-05</c:v>
                </c:pt>
                <c:pt idx="17">
                  <c:v>2025-06</c:v>
                </c:pt>
                <c:pt idx="18">
                  <c:v>2025-07</c:v>
                </c:pt>
                <c:pt idx="19">
                  <c:v>2025-08</c:v>
                </c:pt>
                <c:pt idx="20">
                  <c:v>2025-09</c:v>
                </c:pt>
                <c:pt idx="21">
                  <c:v>2025-10</c:v>
                </c:pt>
                <c:pt idx="22">
                  <c:v>2025-11</c:v>
                </c:pt>
                <c:pt idx="23">
                  <c:v>2025-12</c:v>
                </c:pt>
                <c:pt idx="24">
                  <c:v>2026-01</c:v>
                </c:pt>
                <c:pt idx="25">
                  <c:v>2026-02</c:v>
                </c:pt>
                <c:pt idx="26">
                  <c:v>2026-03</c:v>
                </c:pt>
                <c:pt idx="27">
                  <c:v>2026-04</c:v>
                </c:pt>
                <c:pt idx="28">
                  <c:v>2026-05</c:v>
                </c:pt>
                <c:pt idx="29">
                  <c:v>2026-06</c:v>
                </c:pt>
              </c:strCache>
            </c:strRef>
          </c:cat>
          <c:val>
            <c:numRef>
              <c:f>'Chart Data'!$B$2:$B$31</c:f>
              <c:numCache>
                <c:formatCode>$0,"K"</c:formatCode>
                <c:ptCount val="30"/>
                <c:pt idx="0">
                  <c:v>799999.5</c:v>
                </c:pt>
                <c:pt idx="1">
                  <c:v>830000</c:v>
                </c:pt>
                <c:pt idx="2">
                  <c:v>830000</c:v>
                </c:pt>
                <c:pt idx="3">
                  <c:v>850000</c:v>
                </c:pt>
                <c:pt idx="4">
                  <c:v>865000</c:v>
                </c:pt>
                <c:pt idx="5">
                  <c:v>864000</c:v>
                </c:pt>
                <c:pt idx="6">
                  <c:v>870000</c:v>
                </c:pt>
                <c:pt idx="7">
                  <c:v>862486.5</c:v>
                </c:pt>
                <c:pt idx="8">
                  <c:v>845000</c:v>
                </c:pt>
                <c:pt idx="9">
                  <c:v>860000</c:v>
                </c:pt>
                <c:pt idx="10">
                  <c:v>849000</c:v>
                </c:pt>
                <c:pt idx="11">
                  <c:v>860000</c:v>
                </c:pt>
                <c:pt idx="12">
                  <c:v>830000</c:v>
                </c:pt>
                <c:pt idx="13">
                  <c:v>850000</c:v>
                </c:pt>
                <c:pt idx="14">
                  <c:v>856000</c:v>
                </c:pt>
                <c:pt idx="15">
                  <c:v>865000</c:v>
                </c:pt>
                <c:pt idx="16">
                  <c:v>886000</c:v>
                </c:pt>
                <c:pt idx="17">
                  <c:v>885000</c:v>
                </c:pt>
                <c:pt idx="18">
                  <c:v>875000</c:v>
                </c:pt>
                <c:pt idx="19">
                  <c:v>860500</c:v>
                </c:pt>
                <c:pt idx="20">
                  <c:v>860000</c:v>
                </c:pt>
                <c:pt idx="21">
                  <c:v>865000</c:v>
                </c:pt>
                <c:pt idx="22">
                  <c:v>850000</c:v>
                </c:pt>
                <c:pt idx="23">
                  <c:v>850000</c:v>
                </c:pt>
                <c:pt idx="24">
                  <c:v>838195</c:v>
                </c:pt>
                <c:pt idx="25">
                  <c:v>853706.5</c:v>
                </c:pt>
                <c:pt idx="26">
                  <c:v>861500</c:v>
                </c:pt>
                <c:pt idx="27">
                  <c:v>875000</c:v>
                </c:pt>
                <c:pt idx="28">
                  <c:v>875000</c:v>
                </c:pt>
                <c:pt idx="29">
                  <c:v>890000</c:v>
                </c:pt>
              </c:numCache>
            </c:numRef>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7E0E7"/>
              </a:solidFill>
              <a:prstDash val="solid"/>
            </a:ln>
          </c:spPr>
        </c:majorGridlines>
        <c:numFmt formatCode="$0,&quot;K&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New listings</c:v>
          </c:tx>
          <c:spPr>
            <a:solidFill xmlns:a="http://schemas.openxmlformats.org/drawingml/2006/main">
              <a:srgbClr val="DDEFF8"/>
            </a:solidFill>
          </c:spPr>
          <c:cat>
            <c:strRef>
              <c:f>'Chart Data'!$A$2:$A$13</c:f>
              <c:strCache>
                <c:ptCount val="12"/>
                <c:pt idx="0">
                  <c:v>2025-07</c:v>
                </c:pt>
                <c:pt idx="1">
                  <c:v>2025-08</c:v>
                </c:pt>
                <c:pt idx="2">
                  <c:v>2025-09</c:v>
                </c:pt>
                <c:pt idx="3">
                  <c:v>2025-10</c:v>
                </c:pt>
                <c:pt idx="4">
                  <c:v>2025-11</c:v>
                </c:pt>
                <c:pt idx="5">
                  <c:v>2025-12</c:v>
                </c:pt>
                <c:pt idx="6">
                  <c:v>2026-01</c:v>
                </c:pt>
                <c:pt idx="7">
                  <c:v>2026-02</c:v>
                </c:pt>
                <c:pt idx="8">
                  <c:v>2026-03</c:v>
                </c:pt>
                <c:pt idx="9">
                  <c:v>2026-04</c:v>
                </c:pt>
                <c:pt idx="10">
                  <c:v>2026-05</c:v>
                </c:pt>
                <c:pt idx="11">
                  <c:v>2026-06</c:v>
                </c:pt>
              </c:strCache>
            </c:strRef>
          </c:cat>
          <c:val>
            <c:numRef>
              <c:f>'Chart Data'!$B$2:$B$13</c:f>
              <c:numCache>
                <c:formatCode>General</c:formatCode>
                <c:ptCount val="12"/>
                <c:pt idx="0">
                  <c:v>4452</c:v>
                </c:pt>
                <c:pt idx="1">
                  <c:v>4046</c:v>
                </c:pt>
                <c:pt idx="2">
                  <c:v>4439</c:v>
                </c:pt>
                <c:pt idx="3">
                  <c:v>4376</c:v>
                </c:pt>
                <c:pt idx="4">
                  <c:v>3135</c:v>
                </c:pt>
                <c:pt idx="5">
                  <c:v>2673</c:v>
                </c:pt>
                <c:pt idx="6">
                  <c:v>6063</c:v>
                </c:pt>
                <c:pt idx="7">
                  <c:v>5311</c:v>
                </c:pt>
                <c:pt idx="8">
                  <c:v>6511</c:v>
                </c:pt>
                <c:pt idx="9">
                  <c:v>6689</c:v>
                </c:pt>
                <c:pt idx="10">
                  <c:v>6118</c:v>
                </c:pt>
                <c:pt idx="11">
                  <c:v>6400</c:v>
                </c:pt>
              </c:numCache>
            </c:numRef>
          </c:val>
        </c:ser>
        <c:ser>
          <c:idx val="1"/>
          <c:order val="1"/>
          <c:tx>
            <c:v>Closed sales</c:v>
          </c:tx>
          <c:spPr>
            <a:solidFill xmlns:a="http://schemas.openxmlformats.org/drawingml/2006/main">
              <a:srgbClr val="2878B8"/>
            </a:solidFill>
          </c:spPr>
          <c:cat>
            <c:strRef>
              <c:f>'Chart Data'!$C$2:$C$13</c:f>
              <c:strCache>
                <c:ptCount val="12"/>
                <c:pt idx="0">
                  <c:v>2025-07</c:v>
                </c:pt>
                <c:pt idx="1">
                  <c:v>2025-08</c:v>
                </c:pt>
                <c:pt idx="2">
                  <c:v>2025-09</c:v>
                </c:pt>
                <c:pt idx="3">
                  <c:v>2025-10</c:v>
                </c:pt>
                <c:pt idx="4">
                  <c:v>2025-11</c:v>
                </c:pt>
                <c:pt idx="5">
                  <c:v>2025-12</c:v>
                </c:pt>
                <c:pt idx="6">
                  <c:v>2026-01</c:v>
                </c:pt>
                <c:pt idx="7">
                  <c:v>2026-02</c:v>
                </c:pt>
                <c:pt idx="8">
                  <c:v>2026-03</c:v>
                </c:pt>
                <c:pt idx="9">
                  <c:v>2026-04</c:v>
                </c:pt>
                <c:pt idx="10">
                  <c:v>2026-05</c:v>
                </c:pt>
                <c:pt idx="11">
                  <c:v>2026-06</c:v>
                </c:pt>
              </c:strCache>
            </c:strRef>
          </c:cat>
          <c:val>
            <c:numRef>
              <c:f>'Chart Data'!$D$2:$D$13</c:f>
              <c:numCache>
                <c:formatCode>General</c:formatCode>
                <c:ptCount val="12"/>
                <c:pt idx="0">
                  <c:v>3407</c:v>
                </c:pt>
                <c:pt idx="1">
                  <c:v>3167</c:v>
                </c:pt>
                <c:pt idx="2">
                  <c:v>3290</c:v>
                </c:pt>
                <c:pt idx="3">
                  <c:v>3317</c:v>
                </c:pt>
                <c:pt idx="4">
                  <c:v>2663</c:v>
                </c:pt>
                <c:pt idx="5">
                  <c:v>2940</c:v>
                </c:pt>
                <c:pt idx="6">
                  <c:v>1994</c:v>
                </c:pt>
                <c:pt idx="7">
                  <c:v>2286</c:v>
                </c:pt>
                <c:pt idx="8">
                  <c:v>3081</c:v>
                </c:pt>
                <c:pt idx="9">
                  <c:v>3337</c:v>
                </c:pt>
                <c:pt idx="10">
                  <c:v>3283</c:v>
                </c:pt>
                <c:pt idx="11">
                  <c:v>3521</c:v>
                </c:pt>
              </c:numCache>
            </c:numRef>
          </c:val>
        </c:ser>
        <c:dLbls>
          <c:showLegendKey val="0"/>
          <c:showVal val="0"/>
          <c:showCatName val="0"/>
          <c:showSerName val="0"/>
          <c:showPercent val="0"/>
          <c:showBubbleSize val="0"/>
          <c:showLeaderLines val="0"/>
        </c:dLbls>
        <c:gapWidth val="54"/>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7E0E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6122A8-4882-4651-AAAE-5A852D5036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C8F2C-868D-4924-9F9D-9F0CB2930647}"/>
              </a:ext>
            </a:extLst>
          </p:cNvPr>
          <p:cNvSpPr>
            <a:spLocks xmlns:a="http://schemas.openxmlformats.org/drawingml/2006/main" noGrp="1"/>
          </p:cNvSpPr>
          <p:nvPr/>
        </p:nvSpPr>
        <p:spPr>
          <a:xfrm xmlns:a="http://schemas.openxmlformats.org/drawingml/2006/main">
            <a:off x="685800" y="8001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2878B8"/>
                </a:solidFill>
              </a:defRPr>
            </a:pPr>
            <a:r>
              <a:rPr sz="1275" b="1">
                <a:solidFill>
                  <a:srgbClr val="2878B8"/>
                </a:solidFill>
              </a:rPr>
              <a:t>MARKET INTELLIGENCE</a:t>
            </a:r>
          </a:p>
        </p:txBody>
      </p:sp>
      <p:sp>
        <p:nvSpPr>
          <p:cNvPr id="3" name="">
            <a:extLst xmlns:a="http://schemas.openxmlformats.org/drawingml/2006/main">
              <a:ext uri="{FF2B5EF4-FFF2-40B4-BE49-F238E27FC236}">
                <a16:creationId xmlns:a16="http://schemas.microsoft.com/office/drawing/2014/main" id="{DAB2FD67-F3B2-4D87-91AE-895D0D70EDF1}"/>
              </a:ext>
            </a:extLst>
          </p:cNvPr>
          <p:cNvSpPr>
            <a:spLocks xmlns:a="http://schemas.openxmlformats.org/drawingml/2006/main" noGrp="1"/>
          </p:cNvSpPr>
          <p:nvPr/>
        </p:nvSpPr>
        <p:spPr>
          <a:xfrm xmlns:a="http://schemas.openxmlformats.org/drawingml/2006/main">
            <a:off x="685800" y="1428750"/>
            <a:ext cx="876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350" b="1">
                <a:solidFill>
                  <a:srgbClr val="173A5E"/>
                </a:solidFill>
              </a:defRPr>
            </a:pPr>
            <a:r>
              <a:rPr sz="4350" b="1">
                <a:solidFill>
                  <a:srgbClr val="173A5E"/>
                </a:solidFill>
              </a:rPr>
              <a:t>Los Angeles County</a:t>
            </a:r>
          </a:p>
        </p:txBody>
      </p:sp>
      <p:sp>
        <p:nvSpPr>
          <p:cNvPr id="4" name="">
            <a:extLst xmlns:a="http://schemas.openxmlformats.org/drawingml/2006/main">
              <a:ext uri="{FF2B5EF4-FFF2-40B4-BE49-F238E27FC236}">
                <a16:creationId xmlns:a16="http://schemas.microsoft.com/office/drawing/2014/main" id="{EA0675DE-9EFD-4318-93FA-439F4A526CE8}"/>
              </a:ext>
            </a:extLst>
          </p:cNvPr>
          <p:cNvSpPr>
            <a:spLocks xmlns:a="http://schemas.openxmlformats.org/drawingml/2006/main" noGrp="1"/>
          </p:cNvSpPr>
          <p:nvPr/>
        </p:nvSpPr>
        <p:spPr>
          <a:xfrm xmlns:a="http://schemas.openxmlformats.org/drawingml/2006/main">
            <a:off x="685800" y="2333625"/>
            <a:ext cx="9715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0">
                <a:solidFill>
                  <a:srgbClr val="1B2530"/>
                </a:solidFill>
              </a:defRPr>
            </a:pPr>
            <a:r>
              <a:rPr sz="2250" b="0">
                <a:solidFill>
                  <a:srgbClr val="1B2530"/>
                </a:solidFill>
              </a:rPr>
              <a:t>Stable prices with a slower, more selective market</a:t>
            </a:r>
          </a:p>
        </p:txBody>
      </p:sp>
      <p:sp>
        <p:nvSpPr>
          <p:cNvPr id="5" name="">
            <a:extLst xmlns:a="http://schemas.openxmlformats.org/drawingml/2006/main">
              <a:ext uri="{FF2B5EF4-FFF2-40B4-BE49-F238E27FC236}">
                <a16:creationId xmlns:a16="http://schemas.microsoft.com/office/drawing/2014/main" id="{3FBA077A-5E0E-49CA-AEA0-E55E84193C32}"/>
              </a:ext>
            </a:extLst>
          </p:cNvPr>
          <p:cNvSpPr>
            <a:spLocks xmlns:a="http://schemas.openxmlformats.org/drawingml/2006/main" noGrp="1"/>
          </p:cNvSpPr>
          <p:nvPr/>
        </p:nvSpPr>
        <p:spPr>
          <a:xfrm xmlns:a="http://schemas.openxmlformats.org/drawingml/2006/main">
            <a:off x="685800" y="3705225"/>
            <a:ext cx="87630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E175B7-5B58-4D2E-A141-A949408D87D3}"/>
              </a:ext>
            </a:extLst>
          </p:cNvPr>
          <p:cNvSpPr>
            <a:spLocks xmlns:a="http://schemas.openxmlformats.org/drawingml/2006/main" noGrp="1"/>
          </p:cNvSpPr>
          <p:nvPr/>
        </p:nvSpPr>
        <p:spPr>
          <a:xfrm xmlns:a="http://schemas.openxmlformats.org/drawingml/2006/main">
            <a:off x="685800" y="40005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F6B76"/>
                </a:solidFill>
              </a:defRPr>
            </a:pPr>
            <a:r>
              <a:rPr sz="1500" b="0">
                <a:solidFill>
                  <a:srgbClr val="5F6B76"/>
                </a:solidFill>
              </a:rPr>
              <a:t>Residential market, January 2024 to June 2026</a:t>
            </a:r>
          </a:p>
        </p:txBody>
      </p:sp>
      <p:sp>
        <p:nvSpPr>
          <p:cNvPr id="7" name="">
            <a:extLst xmlns:a="http://schemas.openxmlformats.org/drawingml/2006/main">
              <a:ext uri="{FF2B5EF4-FFF2-40B4-BE49-F238E27FC236}">
                <a16:creationId xmlns:a16="http://schemas.microsoft.com/office/drawing/2014/main" id="{3A12EA49-2B3B-4549-88B9-4788F99F154A}"/>
              </a:ext>
            </a:extLst>
          </p:cNvPr>
          <p:cNvSpPr>
            <a:spLocks xmlns:a="http://schemas.openxmlformats.org/drawingml/2006/main" noGrp="1"/>
          </p:cNvSpPr>
          <p:nvPr/>
        </p:nvSpPr>
        <p:spPr>
          <a:xfrm xmlns:a="http://schemas.openxmlformats.org/drawingml/2006/main">
            <a:off x="685800" y="59055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173A5E"/>
                </a:solidFill>
              </a:defRPr>
            </a:pPr>
            <a:r>
              <a:rPr sz="1275" b="1">
                <a:solidFill>
                  <a:srgbClr val="173A5E"/>
                </a:solidFill>
              </a:rPr>
              <a:t>IDX Exchange MLS Analytics Program</a:t>
            </a:r>
          </a:p>
        </p:txBody>
      </p:sp>
    </p:spTree>
    <p:extLst>
      <p:ext uri="{BB962C8B-B14F-4D97-AF65-F5344CB8AC3E}">
        <p14:creationId xmlns:p14="http://schemas.microsoft.com/office/powerpoint/2010/main" val="1450561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40F1923-EDFF-48B0-85BD-413943BCE478}"/>
              </a:ext>
            </a:extLst>
          </p:cNvPr>
          <p:cNvSpPr>
            <a:spLocks xmlns:a="http://schemas.openxmlformats.org/drawingml/2006/main" noGrp="1"/>
          </p:cNvSpPr>
          <p:nvPr/>
        </p:nvSpPr>
        <p:spPr>
          <a:xfrm xmlns:a="http://schemas.openxmlformats.org/drawingml/2006/main">
            <a:off x="5334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878B8"/>
                </a:solidFill>
              </a:defRPr>
            </a:pPr>
            <a:r>
              <a:rPr sz="1125" b="1">
                <a:solidFill>
                  <a:srgbClr val="2878B8"/>
                </a:solidFill>
              </a:rPr>
              <a:t>LOS ANGELES COUNTY RESIDENTIAL</a:t>
            </a:r>
          </a:p>
        </p:txBody>
      </p:sp>
      <p:sp>
        <p:nvSpPr>
          <p:cNvPr id="2" name="">
            <a:extLst xmlns:a="http://schemas.openxmlformats.org/drawingml/2006/main">
              <a:ext uri="{FF2B5EF4-FFF2-40B4-BE49-F238E27FC236}">
                <a16:creationId xmlns:a16="http://schemas.microsoft.com/office/drawing/2014/main" id="{5C536A98-006B-4992-BB5A-E4472E9AEDB9}"/>
              </a:ext>
            </a:extLst>
          </p:cNvPr>
          <p:cNvSpPr>
            <a:spLocks xmlns:a="http://schemas.openxmlformats.org/drawingml/2006/main" noGrp="1"/>
          </p:cNvSpPr>
          <p:nvPr/>
        </p:nvSpPr>
        <p:spPr>
          <a:xfrm xmlns:a="http://schemas.openxmlformats.org/drawingml/2006/main">
            <a:off x="533400" y="6286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3A5E"/>
                </a:solidFill>
              </a:defRPr>
            </a:pPr>
            <a:r>
              <a:rPr sz="3000" b="1">
                <a:solidFill>
                  <a:srgbClr val="173A5E"/>
                </a:solidFill>
              </a:rPr>
              <a:t>Stable prices and longer market time</a:t>
            </a:r>
          </a:p>
        </p:txBody>
      </p:sp>
      <p:sp>
        <p:nvSpPr>
          <p:cNvPr id="3" name="">
            <a:extLst xmlns:a="http://schemas.openxmlformats.org/drawingml/2006/main">
              <a:ext uri="{FF2B5EF4-FFF2-40B4-BE49-F238E27FC236}">
                <a16:creationId xmlns:a16="http://schemas.microsoft.com/office/drawing/2014/main" id="{92B2D433-59EF-452E-8CA8-49F667A48ECC}"/>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F6B76"/>
                </a:solidFill>
              </a:defRPr>
            </a:pPr>
            <a:r>
              <a:rPr sz="1050" b="1">
                <a:solidFill>
                  <a:srgbClr val="5F6B76"/>
                </a:solidFill>
              </a:rPr>
              <a:t>02</a:t>
            </a:r>
          </a:p>
        </p:txBody>
      </p:sp>
      <p:sp>
        <p:nvSpPr>
          <p:cNvPr id="4" name="">
            <a:extLst xmlns:a="http://schemas.openxmlformats.org/drawingml/2006/main">
              <a:ext uri="{FF2B5EF4-FFF2-40B4-BE49-F238E27FC236}">
                <a16:creationId xmlns:a16="http://schemas.microsoft.com/office/drawing/2014/main" id="{E00C7A11-5391-4FA4-8C1C-B322A155FF30}"/>
              </a:ext>
            </a:extLst>
          </p:cNvPr>
          <p:cNvSpPr>
            <a:spLocks xmlns:a="http://schemas.openxmlformats.org/drawingml/2006/main" noGrp="1"/>
          </p:cNvSpPr>
          <p:nvPr/>
        </p:nvSpPr>
        <p:spPr>
          <a:xfrm xmlns:a="http://schemas.openxmlformats.org/drawingml/2006/main">
            <a:off x="533400" y="1238250"/>
            <a:ext cx="111252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CC95CD-3D3F-461B-9AFA-6BA9D19C8B67}"/>
              </a:ext>
            </a:extLst>
          </p:cNvPr>
          <p:cNvSpPr>
            <a:spLocks xmlns:a="http://schemas.openxmlformats.org/drawingml/2006/main" noGrp="1"/>
          </p:cNvSpPr>
          <p:nvPr/>
        </p:nvSpPr>
        <p:spPr>
          <a:xfrm xmlns:a="http://schemas.openxmlformats.org/drawingml/2006/main">
            <a:off x="533400" y="165735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5F6B76"/>
                </a:solidFill>
              </a:defRPr>
            </a:pPr>
            <a:r>
              <a:rPr sz="1200" b="1">
                <a:solidFill>
                  <a:srgbClr val="5F6B76"/>
                </a:solidFill>
              </a:rPr>
              <a:t>MEDIAN CLOSE PRICE</a:t>
            </a:r>
          </a:p>
        </p:txBody>
      </p:sp>
      <p:sp>
        <p:nvSpPr>
          <p:cNvPr id="6" name="">
            <a:extLst xmlns:a="http://schemas.openxmlformats.org/drawingml/2006/main">
              <a:ext uri="{FF2B5EF4-FFF2-40B4-BE49-F238E27FC236}">
                <a16:creationId xmlns:a16="http://schemas.microsoft.com/office/drawing/2014/main" id="{7D8A5039-79B7-4CD5-B9AC-35D948438A5A}"/>
              </a:ext>
            </a:extLst>
          </p:cNvPr>
          <p:cNvSpPr>
            <a:spLocks xmlns:a="http://schemas.openxmlformats.org/drawingml/2006/main" noGrp="1"/>
          </p:cNvSpPr>
          <p:nvPr/>
        </p:nvSpPr>
        <p:spPr>
          <a:xfrm xmlns:a="http://schemas.openxmlformats.org/drawingml/2006/main">
            <a:off x="533400" y="204787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225" b="1">
                <a:solidFill>
                  <a:srgbClr val="173A5E"/>
                </a:solidFill>
              </a:defRPr>
            </a:pPr>
            <a:r>
              <a:rPr sz="3225" b="1">
                <a:solidFill>
                  <a:srgbClr val="173A5E"/>
                </a:solidFill>
              </a:rPr>
              <a:t>$865K</a:t>
            </a:r>
          </a:p>
        </p:txBody>
      </p:sp>
      <p:sp>
        <p:nvSpPr>
          <p:cNvPr id="7" name="">
            <a:extLst xmlns:a="http://schemas.openxmlformats.org/drawingml/2006/main">
              <a:ext uri="{FF2B5EF4-FFF2-40B4-BE49-F238E27FC236}">
                <a16:creationId xmlns:a16="http://schemas.microsoft.com/office/drawing/2014/main" id="{B87849D0-2AD1-4894-9092-1594B08CD2FC}"/>
              </a:ext>
            </a:extLst>
          </p:cNvPr>
          <p:cNvSpPr>
            <a:spLocks xmlns:a="http://schemas.openxmlformats.org/drawingml/2006/main" noGrp="1"/>
          </p:cNvSpPr>
          <p:nvPr/>
        </p:nvSpPr>
        <p:spPr>
          <a:xfrm xmlns:a="http://schemas.openxmlformats.org/drawingml/2006/main">
            <a:off x="533400" y="2686050"/>
            <a:ext cx="3190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6856B"/>
                </a:solidFill>
              </a:defRPr>
            </a:pPr>
            <a:r>
              <a:rPr sz="1350" b="1">
                <a:solidFill>
                  <a:srgbClr val="16856B"/>
                </a:solidFill>
              </a:rPr>
              <a:t>+0.6% vs prior 12M</a:t>
            </a:r>
          </a:p>
        </p:txBody>
      </p:sp>
      <p:sp>
        <p:nvSpPr>
          <p:cNvPr id="8" name="">
            <a:extLst xmlns:a="http://schemas.openxmlformats.org/drawingml/2006/main">
              <a:ext uri="{FF2B5EF4-FFF2-40B4-BE49-F238E27FC236}">
                <a16:creationId xmlns:a16="http://schemas.microsoft.com/office/drawing/2014/main" id="{C0E859D2-B0C0-4EE7-8482-6298B568EFC4}"/>
              </a:ext>
            </a:extLst>
          </p:cNvPr>
          <p:cNvSpPr>
            <a:spLocks xmlns:a="http://schemas.openxmlformats.org/drawingml/2006/main" noGrp="1"/>
          </p:cNvSpPr>
          <p:nvPr/>
        </p:nvSpPr>
        <p:spPr>
          <a:xfrm xmlns:a="http://schemas.openxmlformats.org/drawingml/2006/main">
            <a:off x="4248150" y="165735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5F6B76"/>
                </a:solidFill>
              </a:defRPr>
            </a:pPr>
            <a:r>
              <a:rPr sz="1200" b="1">
                <a:solidFill>
                  <a:srgbClr val="5F6B76"/>
                </a:solidFill>
              </a:rPr>
              <a:t>MEDIAN DAYS ON MARKET</a:t>
            </a:r>
          </a:p>
        </p:txBody>
      </p:sp>
      <p:sp>
        <p:nvSpPr>
          <p:cNvPr id="9" name="">
            <a:extLst xmlns:a="http://schemas.openxmlformats.org/drawingml/2006/main">
              <a:ext uri="{FF2B5EF4-FFF2-40B4-BE49-F238E27FC236}">
                <a16:creationId xmlns:a16="http://schemas.microsoft.com/office/drawing/2014/main" id="{91B31CDF-E732-48F0-866C-667A0A2C7AD8}"/>
              </a:ext>
            </a:extLst>
          </p:cNvPr>
          <p:cNvSpPr>
            <a:spLocks xmlns:a="http://schemas.openxmlformats.org/drawingml/2006/main" noGrp="1"/>
          </p:cNvSpPr>
          <p:nvPr/>
        </p:nvSpPr>
        <p:spPr>
          <a:xfrm xmlns:a="http://schemas.openxmlformats.org/drawingml/2006/main">
            <a:off x="4248150" y="204787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225" b="1">
                <a:solidFill>
                  <a:srgbClr val="173A5E"/>
                </a:solidFill>
              </a:defRPr>
            </a:pPr>
            <a:r>
              <a:rPr sz="3225" b="1">
                <a:solidFill>
                  <a:srgbClr val="173A5E"/>
                </a:solidFill>
              </a:rPr>
              <a:t>18 days</a:t>
            </a:r>
          </a:p>
        </p:txBody>
      </p:sp>
      <p:sp>
        <p:nvSpPr>
          <p:cNvPr id="10" name="">
            <a:extLst xmlns:a="http://schemas.openxmlformats.org/drawingml/2006/main">
              <a:ext uri="{FF2B5EF4-FFF2-40B4-BE49-F238E27FC236}">
                <a16:creationId xmlns:a16="http://schemas.microsoft.com/office/drawing/2014/main" id="{F0550EAF-07BB-4FDC-A3B3-42AB45A22C2B}"/>
              </a:ext>
            </a:extLst>
          </p:cNvPr>
          <p:cNvSpPr>
            <a:spLocks xmlns:a="http://schemas.openxmlformats.org/drawingml/2006/main" noGrp="1"/>
          </p:cNvSpPr>
          <p:nvPr/>
        </p:nvSpPr>
        <p:spPr>
          <a:xfrm xmlns:a="http://schemas.openxmlformats.org/drawingml/2006/main">
            <a:off x="4248150" y="2686050"/>
            <a:ext cx="3190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C84A4A"/>
                </a:solidFill>
              </a:defRPr>
            </a:pPr>
            <a:r>
              <a:rPr sz="1350" b="1">
                <a:solidFill>
                  <a:srgbClr val="C84A4A"/>
                </a:solidFill>
              </a:rPr>
              <a:t>+12.5% vs prior 12M</a:t>
            </a:r>
          </a:p>
        </p:txBody>
      </p:sp>
      <p:sp>
        <p:nvSpPr>
          <p:cNvPr id="11" name="">
            <a:extLst xmlns:a="http://schemas.openxmlformats.org/drawingml/2006/main">
              <a:ext uri="{FF2B5EF4-FFF2-40B4-BE49-F238E27FC236}">
                <a16:creationId xmlns:a16="http://schemas.microsoft.com/office/drawing/2014/main" id="{1AE8693A-F7FF-4D72-A15A-C46FBA468AB9}"/>
              </a:ext>
            </a:extLst>
          </p:cNvPr>
          <p:cNvSpPr>
            <a:spLocks xmlns:a="http://schemas.openxmlformats.org/drawingml/2006/main" noGrp="1"/>
          </p:cNvSpPr>
          <p:nvPr/>
        </p:nvSpPr>
        <p:spPr>
          <a:xfrm xmlns:a="http://schemas.openxmlformats.org/drawingml/2006/main">
            <a:off x="7962900" y="165735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5F6B76"/>
                </a:solidFill>
              </a:defRPr>
            </a:pPr>
            <a:r>
              <a:rPr sz="1200" b="1">
                <a:solidFill>
                  <a:srgbClr val="5F6B76"/>
                </a:solidFill>
              </a:rPr>
              <a:t>CLOSED SALES</a:t>
            </a:r>
          </a:p>
        </p:txBody>
      </p:sp>
      <p:sp>
        <p:nvSpPr>
          <p:cNvPr id="12" name="">
            <a:extLst xmlns:a="http://schemas.openxmlformats.org/drawingml/2006/main">
              <a:ext uri="{FF2B5EF4-FFF2-40B4-BE49-F238E27FC236}">
                <a16:creationId xmlns:a16="http://schemas.microsoft.com/office/drawing/2014/main" id="{2CD33C42-455B-4B56-9212-6401B061BD49}"/>
              </a:ext>
            </a:extLst>
          </p:cNvPr>
          <p:cNvSpPr>
            <a:spLocks xmlns:a="http://schemas.openxmlformats.org/drawingml/2006/main" noGrp="1"/>
          </p:cNvSpPr>
          <p:nvPr/>
        </p:nvSpPr>
        <p:spPr>
          <a:xfrm xmlns:a="http://schemas.openxmlformats.org/drawingml/2006/main">
            <a:off x="7962900" y="2047875"/>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225" b="1">
                <a:solidFill>
                  <a:srgbClr val="173A5E"/>
                </a:solidFill>
              </a:defRPr>
            </a:pPr>
            <a:r>
              <a:rPr sz="3225" b="1">
                <a:solidFill>
                  <a:srgbClr val="173A5E"/>
                </a:solidFill>
              </a:rPr>
              <a:t>36,286</a:t>
            </a:r>
          </a:p>
        </p:txBody>
      </p:sp>
      <p:sp>
        <p:nvSpPr>
          <p:cNvPr id="13" name="">
            <a:extLst xmlns:a="http://schemas.openxmlformats.org/drawingml/2006/main">
              <a:ext uri="{FF2B5EF4-FFF2-40B4-BE49-F238E27FC236}">
                <a16:creationId xmlns:a16="http://schemas.microsoft.com/office/drawing/2014/main" id="{C60AA914-B2E0-4B53-BA62-6E06188404AA}"/>
              </a:ext>
            </a:extLst>
          </p:cNvPr>
          <p:cNvSpPr>
            <a:spLocks xmlns:a="http://schemas.openxmlformats.org/drawingml/2006/main" noGrp="1"/>
          </p:cNvSpPr>
          <p:nvPr/>
        </p:nvSpPr>
        <p:spPr>
          <a:xfrm xmlns:a="http://schemas.openxmlformats.org/drawingml/2006/main">
            <a:off x="7962900" y="2686050"/>
            <a:ext cx="3190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C84A4A"/>
                </a:solidFill>
              </a:defRPr>
            </a:pPr>
            <a:r>
              <a:rPr sz="1350" b="1">
                <a:solidFill>
                  <a:srgbClr val="C84A4A"/>
                </a:solidFill>
              </a:rPr>
              <a:t>-1.9% vs prior 12M</a:t>
            </a:r>
          </a:p>
        </p:txBody>
      </p:sp>
      <p:sp>
        <p:nvSpPr>
          <p:cNvPr id="14" name="">
            <a:extLst xmlns:a="http://schemas.openxmlformats.org/drawingml/2006/main">
              <a:ext uri="{FF2B5EF4-FFF2-40B4-BE49-F238E27FC236}">
                <a16:creationId xmlns:a16="http://schemas.microsoft.com/office/drawing/2014/main" id="{BB3455C7-7A2E-4C95-BB0F-B88C1D25C0E0}"/>
              </a:ext>
            </a:extLst>
          </p:cNvPr>
          <p:cNvSpPr>
            <a:spLocks xmlns:a="http://schemas.openxmlformats.org/drawingml/2006/main" noGrp="1"/>
          </p:cNvSpPr>
          <p:nvPr/>
        </p:nvSpPr>
        <p:spPr>
          <a:xfrm xmlns:a="http://schemas.openxmlformats.org/drawingml/2006/main">
            <a:off x="533400" y="3276600"/>
            <a:ext cx="111252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0D4C06E-190A-4B33-BBC1-FEFD103AE906}"/>
              </a:ext>
            </a:extLst>
          </p:cNvPr>
          <p:cNvSpPr>
            <a:spLocks xmlns:a="http://schemas.openxmlformats.org/drawingml/2006/main" noGrp="1"/>
          </p:cNvSpPr>
          <p:nvPr/>
        </p:nvSpPr>
        <p:spPr>
          <a:xfrm xmlns:a="http://schemas.openxmlformats.org/drawingml/2006/main">
            <a:off x="533400" y="3638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2878B8"/>
                </a:solidFill>
              </a:defRPr>
            </a:pPr>
            <a:r>
              <a:rPr sz="1800" b="1">
                <a:solidFill>
                  <a:srgbClr val="2878B8"/>
                </a:solidFill>
              </a:rPr>
              <a:t>The signal</a:t>
            </a:r>
          </a:p>
        </p:txBody>
      </p:sp>
      <p:sp>
        <p:nvSpPr>
          <p:cNvPr id="16" name="">
            <a:extLst xmlns:a="http://schemas.openxmlformats.org/drawingml/2006/main">
              <a:ext uri="{FF2B5EF4-FFF2-40B4-BE49-F238E27FC236}">
                <a16:creationId xmlns:a16="http://schemas.microsoft.com/office/drawing/2014/main" id="{E9C51813-61DD-41CE-8FD9-E059A3B40CA6}"/>
              </a:ext>
            </a:extLst>
          </p:cNvPr>
          <p:cNvSpPr>
            <a:spLocks xmlns:a="http://schemas.openxmlformats.org/drawingml/2006/main" noGrp="1"/>
          </p:cNvSpPr>
          <p:nvPr/>
        </p:nvSpPr>
        <p:spPr>
          <a:xfrm xmlns:a="http://schemas.openxmlformats.org/drawingml/2006/main">
            <a:off x="533400" y="4076700"/>
            <a:ext cx="561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79"/>
          </a:bodyPr>
          <a:lstStyle xmlns:a="http://schemas.openxmlformats.org/drawingml/2006/main"/>
          <a:p xmlns:a="http://schemas.openxmlformats.org/drawingml/2006/main">
            <a:pPr algn="l">
              <a:defRPr sz="2625" b="1">
                <a:solidFill>
                  <a:srgbClr val="173A5E"/>
                </a:solidFill>
              </a:defRPr>
            </a:pPr>
            <a:r>
              <a:rPr sz="2625" b="1">
                <a:solidFill>
                  <a:srgbClr val="173A5E"/>
                </a:solidFill>
              </a:rPr>
              <a:t>Buyers had more time to compare options</a:t>
            </a:r>
          </a:p>
        </p:txBody>
      </p:sp>
      <p:sp>
        <p:nvSpPr>
          <p:cNvPr id="17" name="">
            <a:extLst xmlns:a="http://schemas.openxmlformats.org/drawingml/2006/main">
              <a:ext uri="{FF2B5EF4-FFF2-40B4-BE49-F238E27FC236}">
                <a16:creationId xmlns:a16="http://schemas.microsoft.com/office/drawing/2014/main" id="{F7A35BEC-D2E0-4644-B452-D41A2ABF5FBE}"/>
              </a:ext>
            </a:extLst>
          </p:cNvPr>
          <p:cNvSpPr>
            <a:spLocks xmlns:a="http://schemas.openxmlformats.org/drawingml/2006/main" noGrp="1"/>
          </p:cNvSpPr>
          <p:nvPr/>
        </p:nvSpPr>
        <p:spPr>
          <a:xfrm xmlns:a="http://schemas.openxmlformats.org/drawingml/2006/main">
            <a:off x="6572250" y="4000500"/>
            <a:ext cx="4667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B2530"/>
                </a:solidFill>
              </a:defRPr>
            </a:pPr>
            <a:r>
              <a:rPr sz="1650" b="0">
                <a:solidFill>
                  <a:srgbClr val="1B2530"/>
                </a:solidFill>
              </a:rPr>
              <a:t>Median market time rose from 16 to 18 days. Buyers had more time to compare options, while completed sales declined only modestly.</a:t>
            </a:r>
          </a:p>
        </p:txBody>
      </p:sp>
      <p:sp>
        <p:nvSpPr>
          <p:cNvPr id="18" name="">
            <a:extLst xmlns:a="http://schemas.openxmlformats.org/drawingml/2006/main">
              <a:ext uri="{FF2B5EF4-FFF2-40B4-BE49-F238E27FC236}">
                <a16:creationId xmlns:a16="http://schemas.microsoft.com/office/drawing/2014/main" id="{6CAB25D6-0AC1-4310-B982-71AF16300181}"/>
              </a:ext>
            </a:extLst>
          </p:cNvPr>
          <p:cNvSpPr>
            <a:spLocks xmlns:a="http://schemas.openxmlformats.org/drawingml/2006/main" noGrp="1"/>
          </p:cNvSpPr>
          <p:nvPr/>
        </p:nvSpPr>
        <p:spPr>
          <a:xfrm xmlns:a="http://schemas.openxmlformats.org/drawingml/2006/main">
            <a:off x="6572250" y="53149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5F6B76"/>
                </a:solidFill>
              </a:defRPr>
            </a:pPr>
            <a:r>
              <a:rPr sz="1050" b="1">
                <a:solidFill>
                  <a:srgbClr val="5F6B76"/>
                </a:solidFill>
              </a:rPr>
              <a:t>Latest 12 months: Jul 2025-Jun 2026. Prior period: Jul 2024-Jun 2025.</a:t>
            </a:r>
          </a:p>
        </p:txBody>
      </p:sp>
      <p:sp>
        <p:nvSpPr>
          <p:cNvPr id="19" name="">
            <a:extLst xmlns:a="http://schemas.openxmlformats.org/drawingml/2006/main">
              <a:ext uri="{FF2B5EF4-FFF2-40B4-BE49-F238E27FC236}">
                <a16:creationId xmlns:a16="http://schemas.microsoft.com/office/drawing/2014/main" id="{03B47D50-C68F-4AF0-88C9-D5B3DA3DB448}"/>
              </a:ext>
            </a:extLst>
          </p:cNvPr>
          <p:cNvSpPr>
            <a:spLocks xmlns:a="http://schemas.openxmlformats.org/drawingml/2006/main" noGrp="1"/>
          </p:cNvSpPr>
          <p:nvPr/>
        </p:nvSpPr>
        <p:spPr>
          <a:xfrm xmlns:a="http://schemas.openxmlformats.org/drawingml/2006/main">
            <a:off x="533400" y="64579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F6B76"/>
                </a:solidFill>
              </a:defRPr>
            </a:pPr>
            <a:r>
              <a:rPr sz="900" b="0">
                <a:solidFill>
                  <a:srgbClr val="5F6B76"/>
                </a:solidFill>
              </a:rPr>
              <a:t>Source: CRMLS Residential exports. IQR-filtered sales. January 2024 to June 2026.</a:t>
            </a:r>
          </a:p>
        </p:txBody>
      </p:sp>
    </p:spTree>
    <p:extLst>
      <p:ext uri="{BB962C8B-B14F-4D97-AF65-F5344CB8AC3E}">
        <p14:creationId xmlns:p14="http://schemas.microsoft.com/office/powerpoint/2010/main" val="2096369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07A9AD6-BAC1-4684-AC9C-CC86598F6A6E}"/>
              </a:ext>
            </a:extLst>
          </p:cNvPr>
          <p:cNvSpPr>
            <a:spLocks xmlns:a="http://schemas.openxmlformats.org/drawingml/2006/main" noGrp="1"/>
          </p:cNvSpPr>
          <p:nvPr/>
        </p:nvSpPr>
        <p:spPr>
          <a:xfrm xmlns:a="http://schemas.openxmlformats.org/drawingml/2006/main">
            <a:off x="5334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878B8"/>
                </a:solidFill>
              </a:defRPr>
            </a:pPr>
            <a:r>
              <a:rPr sz="1125" b="1">
                <a:solidFill>
                  <a:srgbClr val="2878B8"/>
                </a:solidFill>
              </a:rPr>
              <a:t>LOS ANGELES COUNTY RESIDENTIAL</a:t>
            </a:r>
          </a:p>
        </p:txBody>
      </p:sp>
      <p:sp>
        <p:nvSpPr>
          <p:cNvPr id="2" name="">
            <a:extLst xmlns:a="http://schemas.openxmlformats.org/drawingml/2006/main">
              <a:ext uri="{FF2B5EF4-FFF2-40B4-BE49-F238E27FC236}">
                <a16:creationId xmlns:a16="http://schemas.microsoft.com/office/drawing/2014/main" id="{2B82E156-E883-46B3-B0B9-B07E04470BBC}"/>
              </a:ext>
            </a:extLst>
          </p:cNvPr>
          <p:cNvSpPr>
            <a:spLocks xmlns:a="http://schemas.openxmlformats.org/drawingml/2006/main" noGrp="1"/>
          </p:cNvSpPr>
          <p:nvPr/>
        </p:nvSpPr>
        <p:spPr>
          <a:xfrm xmlns:a="http://schemas.openxmlformats.org/drawingml/2006/main">
            <a:off x="533400" y="6286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3A5E"/>
                </a:solidFill>
              </a:defRPr>
            </a:pPr>
            <a:r>
              <a:rPr sz="3000" b="1">
                <a:solidFill>
                  <a:srgbClr val="173A5E"/>
                </a:solidFill>
              </a:rPr>
              <a:t>A modest shift in negotiating conditions</a:t>
            </a:r>
          </a:p>
        </p:txBody>
      </p:sp>
      <p:sp>
        <p:nvSpPr>
          <p:cNvPr id="3" name="">
            <a:extLst xmlns:a="http://schemas.openxmlformats.org/drawingml/2006/main">
              <a:ext uri="{FF2B5EF4-FFF2-40B4-BE49-F238E27FC236}">
                <a16:creationId xmlns:a16="http://schemas.microsoft.com/office/drawing/2014/main" id="{3A13CABA-C005-420E-9809-D0D3C71FF2CD}"/>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F6B76"/>
                </a:solidFill>
              </a:defRPr>
            </a:pPr>
            <a:r>
              <a:rPr sz="1050" b="1">
                <a:solidFill>
                  <a:srgbClr val="5F6B76"/>
                </a:solidFill>
              </a:rPr>
              <a:t>03</a:t>
            </a:r>
          </a:p>
        </p:txBody>
      </p:sp>
      <p:sp>
        <p:nvSpPr>
          <p:cNvPr id="4" name="">
            <a:extLst xmlns:a="http://schemas.openxmlformats.org/drawingml/2006/main">
              <a:ext uri="{FF2B5EF4-FFF2-40B4-BE49-F238E27FC236}">
                <a16:creationId xmlns:a16="http://schemas.microsoft.com/office/drawing/2014/main" id="{0633B073-E9E5-41CF-8E85-5C27787A1E1F}"/>
              </a:ext>
            </a:extLst>
          </p:cNvPr>
          <p:cNvSpPr>
            <a:spLocks xmlns:a="http://schemas.openxmlformats.org/drawingml/2006/main" noGrp="1"/>
          </p:cNvSpPr>
          <p:nvPr/>
        </p:nvSpPr>
        <p:spPr>
          <a:xfrm xmlns:a="http://schemas.openxmlformats.org/drawingml/2006/main">
            <a:off x="533400" y="1238250"/>
            <a:ext cx="111252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964346-D35B-43EB-8E09-791DA49F5DD9}"/>
              </a:ext>
            </a:extLst>
          </p:cNvPr>
          <p:cNvSpPr>
            <a:spLocks xmlns:a="http://schemas.openxmlformats.org/drawingml/2006/main" noGrp="1"/>
          </p:cNvSpPr>
          <p:nvPr/>
        </p:nvSpPr>
        <p:spPr>
          <a:xfrm xmlns:a="http://schemas.openxmlformats.org/drawingml/2006/main">
            <a:off x="723900" y="15240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73A5E"/>
                </a:solidFill>
              </a:defRPr>
            </a:pPr>
            <a:r>
              <a:rPr sz="1350" b="1">
                <a:solidFill>
                  <a:srgbClr val="173A5E"/>
                </a:solidFill>
              </a:rPr>
              <a:t>Monthly median close price</a:t>
            </a:r>
          </a:p>
        </p:txBody>
      </p:sp>
      <p:graphicFrame>
        <p:nvGraphicFramePr>
          <p:cNvPr id="20" name="Chart"/>
          <p:cNvGraphicFramePr/>
          <p:nvPr/>
        </p:nvGraphicFramePr>
        <p:xfrm>
          <a:off xmlns:a="http://schemas.openxmlformats.org/drawingml/2006/main" x="533400" y="1790700"/>
          <a:ext xmlns:a="http://schemas.openxmlformats.org/drawingml/2006/main" cx="7048500" cy="3790950"/>
        </p:xfrm>
        <a:graphic xmlns:a="http://schemas.openxmlformats.org/drawingml/2006/main">
          <a:graphicData uri="http://schemas.openxmlformats.org/drawingml/2006/chart">
            <c:chart xmlns:r="http://schemas.openxmlformats.org/officeDocument/2006/relationships" xmlns:c="http://schemas.openxmlformats.org/drawingml/2006/chart" r:id="R67e526a3e1b64037"/>
          </a:graphicData>
        </a:graphic>
      </p:graphicFrame>
      <p:sp>
        <p:nvSpPr>
          <p:cNvPr id="7" name="">
            <a:extLst xmlns:a="http://schemas.openxmlformats.org/drawingml/2006/main">
              <a:ext uri="{FF2B5EF4-FFF2-40B4-BE49-F238E27FC236}">
                <a16:creationId xmlns:a16="http://schemas.microsoft.com/office/drawing/2014/main" id="{60B880D8-895B-4AE9-A33C-E8C55AA89731}"/>
              </a:ext>
            </a:extLst>
          </p:cNvPr>
          <p:cNvSpPr>
            <a:spLocks xmlns:a="http://schemas.openxmlformats.org/drawingml/2006/main" noGrp="1"/>
          </p:cNvSpPr>
          <p:nvPr/>
        </p:nvSpPr>
        <p:spPr>
          <a:xfrm xmlns:a="http://schemas.openxmlformats.org/drawingml/2006/main">
            <a:off x="8096250" y="184785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defRPr sz="3450" b="1">
                <a:solidFill>
                  <a:srgbClr val="173A5E"/>
                </a:solidFill>
              </a:defRPr>
            </a:pPr>
            <a:r>
              <a:rPr sz="3450" b="1">
                <a:solidFill>
                  <a:srgbClr val="173A5E"/>
                </a:solidFill>
              </a:rPr>
              <a:t>99.7%</a:t>
            </a:r>
          </a:p>
        </p:txBody>
      </p:sp>
      <p:sp>
        <p:nvSpPr>
          <p:cNvPr id="8" name="">
            <a:extLst xmlns:a="http://schemas.openxmlformats.org/drawingml/2006/main">
              <a:ext uri="{FF2B5EF4-FFF2-40B4-BE49-F238E27FC236}">
                <a16:creationId xmlns:a16="http://schemas.microsoft.com/office/drawing/2014/main" id="{A1FA11A6-C907-44DA-AD70-A66904013F19}"/>
              </a:ext>
            </a:extLst>
          </p:cNvPr>
          <p:cNvSpPr>
            <a:spLocks xmlns:a="http://schemas.openxmlformats.org/drawingml/2006/main" noGrp="1"/>
          </p:cNvSpPr>
          <p:nvPr/>
        </p:nvSpPr>
        <p:spPr>
          <a:xfrm xmlns:a="http://schemas.openxmlformats.org/drawingml/2006/main">
            <a:off x="8096250" y="2476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5F6B76"/>
                </a:solidFill>
              </a:defRPr>
            </a:pPr>
            <a:r>
              <a:rPr sz="1350" b="1">
                <a:solidFill>
                  <a:srgbClr val="5F6B76"/>
                </a:solidFill>
              </a:rPr>
              <a:t>median close-to-original-list ratio</a:t>
            </a:r>
          </a:p>
        </p:txBody>
      </p:sp>
      <p:sp>
        <p:nvSpPr>
          <p:cNvPr id="9" name="">
            <a:extLst xmlns:a="http://schemas.openxmlformats.org/drawingml/2006/main">
              <a:ext uri="{FF2B5EF4-FFF2-40B4-BE49-F238E27FC236}">
                <a16:creationId xmlns:a16="http://schemas.microsoft.com/office/drawing/2014/main" id="{D8284F11-5053-495A-A6F9-FDFBFAA12A3B}"/>
              </a:ext>
            </a:extLst>
          </p:cNvPr>
          <p:cNvSpPr>
            <a:spLocks xmlns:a="http://schemas.openxmlformats.org/drawingml/2006/main" noGrp="1"/>
          </p:cNvSpPr>
          <p:nvPr/>
        </p:nvSpPr>
        <p:spPr>
          <a:xfrm xmlns:a="http://schemas.openxmlformats.org/drawingml/2006/main">
            <a:off x="8096250" y="3143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C84A4A"/>
                </a:solidFill>
              </a:defRPr>
            </a:pPr>
            <a:r>
              <a:rPr sz="1425" b="1">
                <a:solidFill>
                  <a:srgbClr val="C84A4A"/>
                </a:solidFill>
              </a:rPr>
              <a:t>-0.3 percentage points</a:t>
            </a:r>
          </a:p>
        </p:txBody>
      </p:sp>
      <p:sp>
        <p:nvSpPr>
          <p:cNvPr id="10" name="">
            <a:extLst xmlns:a="http://schemas.openxmlformats.org/drawingml/2006/main">
              <a:ext uri="{FF2B5EF4-FFF2-40B4-BE49-F238E27FC236}">
                <a16:creationId xmlns:a16="http://schemas.microsoft.com/office/drawing/2014/main" id="{793DC94A-2B06-4DFB-BF5F-2A870A4B3EBC}"/>
              </a:ext>
            </a:extLst>
          </p:cNvPr>
          <p:cNvSpPr>
            <a:spLocks xmlns:a="http://schemas.openxmlformats.org/drawingml/2006/main" noGrp="1"/>
          </p:cNvSpPr>
          <p:nvPr/>
        </p:nvSpPr>
        <p:spPr>
          <a:xfrm xmlns:a="http://schemas.openxmlformats.org/drawingml/2006/main">
            <a:off x="8096250" y="34766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0">
                <a:solidFill>
                  <a:srgbClr val="5F6B76"/>
                </a:solidFill>
              </a:defRPr>
            </a:pPr>
            <a:r>
              <a:rPr sz="1200" b="0">
                <a:solidFill>
                  <a:srgbClr val="5F6B76"/>
                </a:solidFill>
              </a:rPr>
              <a:t>vs prior 12 months</a:t>
            </a:r>
          </a:p>
        </p:txBody>
      </p:sp>
      <p:sp>
        <p:nvSpPr>
          <p:cNvPr id="11" name="">
            <a:extLst xmlns:a="http://schemas.openxmlformats.org/drawingml/2006/main">
              <a:ext uri="{FF2B5EF4-FFF2-40B4-BE49-F238E27FC236}">
                <a16:creationId xmlns:a16="http://schemas.microsoft.com/office/drawing/2014/main" id="{7F93E370-6399-469C-8EC8-E60C6E4090DB}"/>
              </a:ext>
            </a:extLst>
          </p:cNvPr>
          <p:cNvSpPr>
            <a:spLocks xmlns:a="http://schemas.openxmlformats.org/drawingml/2006/main" noGrp="1"/>
          </p:cNvSpPr>
          <p:nvPr/>
        </p:nvSpPr>
        <p:spPr>
          <a:xfrm xmlns:a="http://schemas.openxmlformats.org/drawingml/2006/main">
            <a:off x="8096250" y="3943350"/>
            <a:ext cx="28575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93E0C4F-31F9-4D25-864B-3729882A13CC}"/>
              </a:ext>
            </a:extLst>
          </p:cNvPr>
          <p:cNvSpPr>
            <a:spLocks xmlns:a="http://schemas.openxmlformats.org/drawingml/2006/main" noGrp="1"/>
          </p:cNvSpPr>
          <p:nvPr/>
        </p:nvSpPr>
        <p:spPr>
          <a:xfrm xmlns:a="http://schemas.openxmlformats.org/drawingml/2006/main">
            <a:off x="8096250" y="42672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3150" b="1">
                <a:solidFill>
                  <a:srgbClr val="173A5E"/>
                </a:solidFill>
              </a:defRPr>
            </a:pPr>
            <a:r>
              <a:rPr sz="3150" b="1">
                <a:solidFill>
                  <a:srgbClr val="173A5E"/>
                </a:solidFill>
              </a:rPr>
              <a:t>$587</a:t>
            </a:r>
          </a:p>
        </p:txBody>
      </p:sp>
      <p:sp>
        <p:nvSpPr>
          <p:cNvPr id="13" name="">
            <a:extLst xmlns:a="http://schemas.openxmlformats.org/drawingml/2006/main">
              <a:ext uri="{FF2B5EF4-FFF2-40B4-BE49-F238E27FC236}">
                <a16:creationId xmlns:a16="http://schemas.microsoft.com/office/drawing/2014/main" id="{16CC633B-29F1-43A4-8EC4-C5FC28C240CD}"/>
              </a:ext>
            </a:extLst>
          </p:cNvPr>
          <p:cNvSpPr>
            <a:spLocks xmlns:a="http://schemas.openxmlformats.org/drawingml/2006/main" noGrp="1"/>
          </p:cNvSpPr>
          <p:nvPr/>
        </p:nvSpPr>
        <p:spPr>
          <a:xfrm xmlns:a="http://schemas.openxmlformats.org/drawingml/2006/main">
            <a:off x="8096250" y="4857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5F6B76"/>
                </a:solidFill>
              </a:defRPr>
            </a:pPr>
            <a:r>
              <a:rPr sz="1350" b="1">
                <a:solidFill>
                  <a:srgbClr val="5F6B76"/>
                </a:solidFill>
              </a:rPr>
              <a:t>Median price per sq ft, -1.0%</a:t>
            </a:r>
          </a:p>
        </p:txBody>
      </p:sp>
      <p:sp>
        <p:nvSpPr>
          <p:cNvPr id="14" name="">
            <a:extLst xmlns:a="http://schemas.openxmlformats.org/drawingml/2006/main">
              <a:ext uri="{FF2B5EF4-FFF2-40B4-BE49-F238E27FC236}">
                <a16:creationId xmlns:a16="http://schemas.microsoft.com/office/drawing/2014/main" id="{922C902A-A989-4175-913B-B27344EA06D2}"/>
              </a:ext>
            </a:extLst>
          </p:cNvPr>
          <p:cNvSpPr>
            <a:spLocks xmlns:a="http://schemas.openxmlformats.org/drawingml/2006/main" noGrp="1"/>
          </p:cNvSpPr>
          <p:nvPr/>
        </p:nvSpPr>
        <p:spPr>
          <a:xfrm xmlns:a="http://schemas.openxmlformats.org/drawingml/2006/main">
            <a:off x="533400" y="64579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F6B76"/>
                </a:solidFill>
              </a:defRPr>
            </a:pPr>
            <a:r>
              <a:rPr sz="900" b="0">
                <a:solidFill>
                  <a:srgbClr val="5F6B76"/>
                </a:solidFill>
              </a:rPr>
              <a:t>Source: CRMLS Residential exports. IQR-filtered sales. January 2024 to June 2026.</a:t>
            </a:r>
          </a:p>
        </p:txBody>
      </p:sp>
    </p:spTree>
    <p:extLst>
      <p:ext uri="{BB962C8B-B14F-4D97-AF65-F5344CB8AC3E}">
        <p14:creationId xmlns:p14="http://schemas.microsoft.com/office/powerpoint/2010/main" val="12260982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407C282-593F-43A2-B43B-59294965E09A}"/>
              </a:ext>
            </a:extLst>
          </p:cNvPr>
          <p:cNvSpPr>
            <a:spLocks xmlns:a="http://schemas.openxmlformats.org/drawingml/2006/main" noGrp="1"/>
          </p:cNvSpPr>
          <p:nvPr/>
        </p:nvSpPr>
        <p:spPr>
          <a:xfrm xmlns:a="http://schemas.openxmlformats.org/drawingml/2006/main">
            <a:off x="5334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878B8"/>
                </a:solidFill>
              </a:defRPr>
            </a:pPr>
            <a:r>
              <a:rPr sz="1125" b="1">
                <a:solidFill>
                  <a:srgbClr val="2878B8"/>
                </a:solidFill>
              </a:rPr>
              <a:t>LOS ANGELES COUNTY RESIDENTIAL</a:t>
            </a:r>
          </a:p>
        </p:txBody>
      </p:sp>
      <p:sp>
        <p:nvSpPr>
          <p:cNvPr id="2" name="">
            <a:extLst xmlns:a="http://schemas.openxmlformats.org/drawingml/2006/main">
              <a:ext uri="{FF2B5EF4-FFF2-40B4-BE49-F238E27FC236}">
                <a16:creationId xmlns:a16="http://schemas.microsoft.com/office/drawing/2014/main" id="{02EEA8AA-FD4B-4E05-8509-A50257D752E6}"/>
              </a:ext>
            </a:extLst>
          </p:cNvPr>
          <p:cNvSpPr>
            <a:spLocks xmlns:a="http://schemas.openxmlformats.org/drawingml/2006/main" noGrp="1"/>
          </p:cNvSpPr>
          <p:nvPr/>
        </p:nvSpPr>
        <p:spPr>
          <a:xfrm xmlns:a="http://schemas.openxmlformats.org/drawingml/2006/main">
            <a:off x="533400" y="6286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3A5E"/>
                </a:solidFill>
              </a:defRPr>
            </a:pPr>
            <a:r>
              <a:rPr sz="3000" b="1">
                <a:solidFill>
                  <a:srgbClr val="173A5E"/>
                </a:solidFill>
              </a:rPr>
              <a:t>Listing supply contracted faster than sales</a:t>
            </a:r>
          </a:p>
        </p:txBody>
      </p:sp>
      <p:sp>
        <p:nvSpPr>
          <p:cNvPr id="3" name="">
            <a:extLst xmlns:a="http://schemas.openxmlformats.org/drawingml/2006/main">
              <a:ext uri="{FF2B5EF4-FFF2-40B4-BE49-F238E27FC236}">
                <a16:creationId xmlns:a16="http://schemas.microsoft.com/office/drawing/2014/main" id="{8867906F-4CEE-4960-83D9-2BB3974CA2A2}"/>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F6B76"/>
                </a:solidFill>
              </a:defRPr>
            </a:pPr>
            <a:r>
              <a:rPr sz="1050" b="1">
                <a:solidFill>
                  <a:srgbClr val="5F6B76"/>
                </a:solidFill>
              </a:rPr>
              <a:t>04</a:t>
            </a:r>
          </a:p>
        </p:txBody>
      </p:sp>
      <p:sp>
        <p:nvSpPr>
          <p:cNvPr id="4" name="">
            <a:extLst xmlns:a="http://schemas.openxmlformats.org/drawingml/2006/main">
              <a:ext uri="{FF2B5EF4-FFF2-40B4-BE49-F238E27FC236}">
                <a16:creationId xmlns:a16="http://schemas.microsoft.com/office/drawing/2014/main" id="{B8577724-8C75-4A0B-A7F0-061FECBC61A1}"/>
              </a:ext>
            </a:extLst>
          </p:cNvPr>
          <p:cNvSpPr>
            <a:spLocks xmlns:a="http://schemas.openxmlformats.org/drawingml/2006/main" noGrp="1"/>
          </p:cNvSpPr>
          <p:nvPr/>
        </p:nvSpPr>
        <p:spPr>
          <a:xfrm xmlns:a="http://schemas.openxmlformats.org/drawingml/2006/main">
            <a:off x="533400" y="1238250"/>
            <a:ext cx="111252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F708E2-59F6-4BD0-B4BA-D9FC6BA0ABD3}"/>
              </a:ext>
            </a:extLst>
          </p:cNvPr>
          <p:cNvSpPr>
            <a:spLocks xmlns:a="http://schemas.openxmlformats.org/drawingml/2006/main" noGrp="1"/>
          </p:cNvSpPr>
          <p:nvPr/>
        </p:nvSpPr>
        <p:spPr>
          <a:xfrm xmlns:a="http://schemas.openxmlformats.org/drawingml/2006/main">
            <a:off x="723900" y="1524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73A5E"/>
                </a:solidFill>
              </a:defRPr>
            </a:pPr>
            <a:r>
              <a:rPr sz="1350" b="1">
                <a:solidFill>
                  <a:srgbClr val="173A5E"/>
                </a:solidFill>
              </a:rPr>
              <a:t>Monthly market activity, latest 12 months</a:t>
            </a:r>
          </a:p>
        </p:txBody>
      </p:sp>
      <p:graphicFrame>
        <p:nvGraphicFramePr>
          <p:cNvPr id="19" name="Chart"/>
          <p:cNvGraphicFramePr/>
          <p:nvPr/>
        </p:nvGraphicFramePr>
        <p:xfrm>
          <a:off xmlns:a="http://schemas.openxmlformats.org/drawingml/2006/main" x="533400" y="17907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51569681e81b4d32"/>
          </a:graphicData>
        </a:graphic>
      </p:graphicFrame>
      <p:sp>
        <p:nvSpPr>
          <p:cNvPr id="7" name="">
            <a:extLst xmlns:a="http://schemas.openxmlformats.org/drawingml/2006/main">
              <a:ext uri="{FF2B5EF4-FFF2-40B4-BE49-F238E27FC236}">
                <a16:creationId xmlns:a16="http://schemas.microsoft.com/office/drawing/2014/main" id="{5B51EE52-7E21-4FB7-982A-5700FDB22EEE}"/>
              </a:ext>
            </a:extLst>
          </p:cNvPr>
          <p:cNvSpPr>
            <a:spLocks xmlns:a="http://schemas.openxmlformats.org/drawingml/2006/main" noGrp="1"/>
          </p:cNvSpPr>
          <p:nvPr/>
        </p:nvSpPr>
        <p:spPr>
          <a:xfrm xmlns:a="http://schemas.openxmlformats.org/drawingml/2006/main">
            <a:off x="8572500" y="18478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00"/>
          </a:bodyPr>
          <a:lstStyle xmlns:a="http://schemas.openxmlformats.org/drawingml/2006/main"/>
          <a:p xmlns:a="http://schemas.openxmlformats.org/drawingml/2006/main">
            <a:pPr algn="l">
              <a:defRPr sz="3000" b="1">
                <a:solidFill>
                  <a:srgbClr val="173A5E"/>
                </a:solidFill>
              </a:defRPr>
            </a:pPr>
            <a:r>
              <a:rPr sz="3000" b="1">
                <a:solidFill>
                  <a:srgbClr val="173A5E"/>
                </a:solidFill>
              </a:rPr>
              <a:t>60,213</a:t>
            </a:r>
          </a:p>
        </p:txBody>
      </p:sp>
      <p:sp>
        <p:nvSpPr>
          <p:cNvPr id="8" name="">
            <a:extLst xmlns:a="http://schemas.openxmlformats.org/drawingml/2006/main">
              <a:ext uri="{FF2B5EF4-FFF2-40B4-BE49-F238E27FC236}">
                <a16:creationId xmlns:a16="http://schemas.microsoft.com/office/drawing/2014/main" id="{E68D554D-B7E8-4A6F-8EFC-A013A5681911}"/>
              </a:ext>
            </a:extLst>
          </p:cNvPr>
          <p:cNvSpPr>
            <a:spLocks xmlns:a="http://schemas.openxmlformats.org/drawingml/2006/main" noGrp="1"/>
          </p:cNvSpPr>
          <p:nvPr/>
        </p:nvSpPr>
        <p:spPr>
          <a:xfrm xmlns:a="http://schemas.openxmlformats.org/drawingml/2006/main">
            <a:off x="8572500" y="2381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5F6B76"/>
                </a:solidFill>
              </a:defRPr>
            </a:pPr>
            <a:r>
              <a:rPr sz="1275" b="1">
                <a:solidFill>
                  <a:srgbClr val="5F6B76"/>
                </a:solidFill>
              </a:rPr>
              <a:t>New listings, -7.1%</a:t>
            </a:r>
          </a:p>
        </p:txBody>
      </p:sp>
      <p:sp>
        <p:nvSpPr>
          <p:cNvPr id="9" name="">
            <a:extLst xmlns:a="http://schemas.openxmlformats.org/drawingml/2006/main">
              <a:ext uri="{FF2B5EF4-FFF2-40B4-BE49-F238E27FC236}">
                <a16:creationId xmlns:a16="http://schemas.microsoft.com/office/drawing/2014/main" id="{83CE749F-FD3F-4A0B-BE50-D77792DCF960}"/>
              </a:ext>
            </a:extLst>
          </p:cNvPr>
          <p:cNvSpPr>
            <a:spLocks xmlns:a="http://schemas.openxmlformats.org/drawingml/2006/main" noGrp="1"/>
          </p:cNvSpPr>
          <p:nvPr/>
        </p:nvSpPr>
        <p:spPr>
          <a:xfrm xmlns:a="http://schemas.openxmlformats.org/drawingml/2006/main">
            <a:off x="8572500" y="31432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00"/>
          </a:bodyPr>
          <a:lstStyle xmlns:a="http://schemas.openxmlformats.org/drawingml/2006/main"/>
          <a:p xmlns:a="http://schemas.openxmlformats.org/drawingml/2006/main">
            <a:pPr algn="l">
              <a:defRPr sz="3000" b="1">
                <a:solidFill>
                  <a:srgbClr val="173A5E"/>
                </a:solidFill>
              </a:defRPr>
            </a:pPr>
            <a:r>
              <a:rPr sz="3000" b="1">
                <a:solidFill>
                  <a:srgbClr val="173A5E"/>
                </a:solidFill>
              </a:rPr>
              <a:t>36,286</a:t>
            </a:r>
          </a:p>
        </p:txBody>
      </p:sp>
      <p:sp>
        <p:nvSpPr>
          <p:cNvPr id="10" name="">
            <a:extLst xmlns:a="http://schemas.openxmlformats.org/drawingml/2006/main">
              <a:ext uri="{FF2B5EF4-FFF2-40B4-BE49-F238E27FC236}">
                <a16:creationId xmlns:a16="http://schemas.microsoft.com/office/drawing/2014/main" id="{EAB4A04B-6032-4D79-B93C-2E6C361400F9}"/>
              </a:ext>
            </a:extLst>
          </p:cNvPr>
          <p:cNvSpPr>
            <a:spLocks xmlns:a="http://schemas.openxmlformats.org/drawingml/2006/main" noGrp="1"/>
          </p:cNvSpPr>
          <p:nvPr/>
        </p:nvSpPr>
        <p:spPr>
          <a:xfrm xmlns:a="http://schemas.openxmlformats.org/drawingml/2006/main">
            <a:off x="8572500" y="36766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5F6B76"/>
                </a:solidFill>
              </a:defRPr>
            </a:pPr>
            <a:r>
              <a:rPr sz="1275" b="1">
                <a:solidFill>
                  <a:srgbClr val="5F6B76"/>
                </a:solidFill>
              </a:rPr>
              <a:t>Closed sales, -1.9%</a:t>
            </a:r>
          </a:p>
        </p:txBody>
      </p:sp>
      <p:sp>
        <p:nvSpPr>
          <p:cNvPr id="11" name="">
            <a:extLst xmlns:a="http://schemas.openxmlformats.org/drawingml/2006/main">
              <a:ext uri="{FF2B5EF4-FFF2-40B4-BE49-F238E27FC236}">
                <a16:creationId xmlns:a16="http://schemas.microsoft.com/office/drawing/2014/main" id="{7864BAE6-5F11-4036-B2D2-340285A5EF30}"/>
              </a:ext>
            </a:extLst>
          </p:cNvPr>
          <p:cNvSpPr>
            <a:spLocks xmlns:a="http://schemas.openxmlformats.org/drawingml/2006/main" noGrp="1"/>
          </p:cNvSpPr>
          <p:nvPr/>
        </p:nvSpPr>
        <p:spPr>
          <a:xfrm xmlns:a="http://schemas.openxmlformats.org/drawingml/2006/main">
            <a:off x="8572500" y="44386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00"/>
          </a:bodyPr>
          <a:lstStyle xmlns:a="http://schemas.openxmlformats.org/drawingml/2006/main"/>
          <a:p xmlns:a="http://schemas.openxmlformats.org/drawingml/2006/main">
            <a:pPr algn="l">
              <a:defRPr sz="3000" b="1">
                <a:solidFill>
                  <a:srgbClr val="173A5E"/>
                </a:solidFill>
              </a:defRPr>
            </a:pPr>
            <a:r>
              <a:rPr sz="3000" b="1">
                <a:solidFill>
                  <a:srgbClr val="173A5E"/>
                </a:solidFill>
              </a:rPr>
              <a:t>$35.7B</a:t>
            </a:r>
          </a:p>
        </p:txBody>
      </p:sp>
      <p:sp>
        <p:nvSpPr>
          <p:cNvPr id="12" name="">
            <a:extLst xmlns:a="http://schemas.openxmlformats.org/drawingml/2006/main">
              <a:ext uri="{FF2B5EF4-FFF2-40B4-BE49-F238E27FC236}">
                <a16:creationId xmlns:a16="http://schemas.microsoft.com/office/drawing/2014/main" id="{C9CE98B3-0B57-4AEF-B4B3-CEAF9046D65E}"/>
              </a:ext>
            </a:extLst>
          </p:cNvPr>
          <p:cNvSpPr>
            <a:spLocks xmlns:a="http://schemas.openxmlformats.org/drawingml/2006/main" noGrp="1"/>
          </p:cNvSpPr>
          <p:nvPr/>
        </p:nvSpPr>
        <p:spPr>
          <a:xfrm xmlns:a="http://schemas.openxmlformats.org/drawingml/2006/main">
            <a:off x="8572500" y="49720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5F6B76"/>
                </a:solidFill>
              </a:defRPr>
            </a:pPr>
            <a:r>
              <a:rPr sz="1275" b="1">
                <a:solidFill>
                  <a:srgbClr val="5F6B76"/>
                </a:solidFill>
              </a:rPr>
              <a:t>Closed volume, -1.3%</a:t>
            </a:r>
          </a:p>
        </p:txBody>
      </p:sp>
      <p:sp>
        <p:nvSpPr>
          <p:cNvPr id="13" name="">
            <a:extLst xmlns:a="http://schemas.openxmlformats.org/drawingml/2006/main">
              <a:ext uri="{FF2B5EF4-FFF2-40B4-BE49-F238E27FC236}">
                <a16:creationId xmlns:a16="http://schemas.microsoft.com/office/drawing/2014/main" id="{0B221B1E-4638-4B37-9348-46A70F612548}"/>
              </a:ext>
            </a:extLst>
          </p:cNvPr>
          <p:cNvSpPr>
            <a:spLocks xmlns:a="http://schemas.openxmlformats.org/drawingml/2006/main" noGrp="1"/>
          </p:cNvSpPr>
          <p:nvPr/>
        </p:nvSpPr>
        <p:spPr>
          <a:xfrm xmlns:a="http://schemas.openxmlformats.org/drawingml/2006/main">
            <a:off x="533400" y="64579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F6B76"/>
                </a:solidFill>
              </a:defRPr>
            </a:pPr>
            <a:r>
              <a:rPr sz="900" b="0">
                <a:solidFill>
                  <a:srgbClr val="5F6B76"/>
                </a:solidFill>
              </a:rPr>
              <a:t>Source: CRMLS Residential exports. IQR-filtered sales. January 2024 to June 2026.</a:t>
            </a:r>
          </a:p>
        </p:txBody>
      </p:sp>
    </p:spTree>
    <p:extLst>
      <p:ext uri="{BB962C8B-B14F-4D97-AF65-F5344CB8AC3E}">
        <p14:creationId xmlns:p14="http://schemas.microsoft.com/office/powerpoint/2010/main" val="1816280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14121C42-3AA8-43AD-9FC8-5DA2B7ED71D7}"/>
              </a:ext>
            </a:extLst>
          </p:cNvPr>
          <p:cNvSpPr>
            <a:spLocks xmlns:a="http://schemas.openxmlformats.org/drawingml/2006/main" noGrp="1"/>
          </p:cNvSpPr>
          <p:nvPr/>
        </p:nvSpPr>
        <p:spPr>
          <a:xfrm xmlns:a="http://schemas.openxmlformats.org/drawingml/2006/main">
            <a:off x="53340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878B8"/>
                </a:solidFill>
              </a:defRPr>
            </a:pPr>
            <a:r>
              <a:rPr sz="1125" b="1">
                <a:solidFill>
                  <a:srgbClr val="2878B8"/>
                </a:solidFill>
              </a:rPr>
              <a:t>LOS ANGELES COUNTY RESIDENTIAL</a:t>
            </a:r>
          </a:p>
        </p:txBody>
      </p:sp>
      <p:sp>
        <p:nvSpPr>
          <p:cNvPr id="2" name="">
            <a:extLst xmlns:a="http://schemas.openxmlformats.org/drawingml/2006/main">
              <a:ext uri="{FF2B5EF4-FFF2-40B4-BE49-F238E27FC236}">
                <a16:creationId xmlns:a16="http://schemas.microsoft.com/office/drawing/2014/main" id="{A5721C8F-AFD9-4978-8A4C-C4C39F9AFFB0}"/>
              </a:ext>
            </a:extLst>
          </p:cNvPr>
          <p:cNvSpPr>
            <a:spLocks xmlns:a="http://schemas.openxmlformats.org/drawingml/2006/main" noGrp="1"/>
          </p:cNvSpPr>
          <p:nvPr/>
        </p:nvSpPr>
        <p:spPr>
          <a:xfrm xmlns:a="http://schemas.openxmlformats.org/drawingml/2006/main">
            <a:off x="533400" y="6286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3A5E"/>
                </a:solidFill>
              </a:defRPr>
            </a:pPr>
            <a:r>
              <a:rPr sz="3000" b="1">
                <a:solidFill>
                  <a:srgbClr val="173A5E"/>
                </a:solidFill>
              </a:rPr>
              <a:t>Leading listing agents and offices</a:t>
            </a:r>
          </a:p>
        </p:txBody>
      </p:sp>
      <p:sp>
        <p:nvSpPr>
          <p:cNvPr id="3" name="">
            <a:extLst xmlns:a="http://schemas.openxmlformats.org/drawingml/2006/main">
              <a:ext uri="{FF2B5EF4-FFF2-40B4-BE49-F238E27FC236}">
                <a16:creationId xmlns:a16="http://schemas.microsoft.com/office/drawing/2014/main" id="{2E13E3A3-67AB-4586-AE44-A6D255AD6B4B}"/>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F6B76"/>
                </a:solidFill>
              </a:defRPr>
            </a:pPr>
            <a:r>
              <a:rPr sz="1050" b="1">
                <a:solidFill>
                  <a:srgbClr val="5F6B76"/>
                </a:solidFill>
              </a:rPr>
              <a:t>05</a:t>
            </a:r>
          </a:p>
        </p:txBody>
      </p:sp>
      <p:sp>
        <p:nvSpPr>
          <p:cNvPr id="4" name="">
            <a:extLst xmlns:a="http://schemas.openxmlformats.org/drawingml/2006/main">
              <a:ext uri="{FF2B5EF4-FFF2-40B4-BE49-F238E27FC236}">
                <a16:creationId xmlns:a16="http://schemas.microsoft.com/office/drawing/2014/main" id="{42DB54E2-1676-4CD0-ABF8-C31AFF8D6C81}"/>
              </a:ext>
            </a:extLst>
          </p:cNvPr>
          <p:cNvSpPr>
            <a:spLocks xmlns:a="http://schemas.openxmlformats.org/drawingml/2006/main" noGrp="1"/>
          </p:cNvSpPr>
          <p:nvPr/>
        </p:nvSpPr>
        <p:spPr>
          <a:xfrm xmlns:a="http://schemas.openxmlformats.org/drawingml/2006/main">
            <a:off x="533400" y="1238250"/>
            <a:ext cx="11125200" cy="19050"/>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8B9A09-8235-4E10-AEF3-6F94E24770D4}"/>
              </a:ext>
            </a:extLst>
          </p:cNvPr>
          <p:cNvSpPr>
            <a:spLocks xmlns:a="http://schemas.openxmlformats.org/drawingml/2006/main" noGrp="1"/>
          </p:cNvSpPr>
          <p:nvPr/>
        </p:nvSpPr>
        <p:spPr>
          <a:xfrm xmlns:a="http://schemas.openxmlformats.org/drawingml/2006/main">
            <a:off x="533400" y="16002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5F6B76"/>
                </a:solidFill>
              </a:defRPr>
            </a:pPr>
            <a:r>
              <a:rPr sz="1275" b="1">
                <a:solidFill>
                  <a:srgbClr val="5F6B76"/>
                </a:solidFill>
              </a:rPr>
              <a:t>TOP LISTING AGENTS BY CLOSED VOLUME</a:t>
            </a:r>
          </a:p>
        </p:txBody>
      </p:sp>
      <p:sp>
        <p:nvSpPr>
          <p:cNvPr id="6" name="">
            <a:extLst xmlns:a="http://schemas.openxmlformats.org/drawingml/2006/main">
              <a:ext uri="{FF2B5EF4-FFF2-40B4-BE49-F238E27FC236}">
                <a16:creationId xmlns:a16="http://schemas.microsoft.com/office/drawing/2014/main" id="{CEBF7EBE-DFD2-414F-A676-B4ECDD59CDA4}"/>
              </a:ext>
            </a:extLst>
          </p:cNvPr>
          <p:cNvSpPr>
            <a:spLocks xmlns:a="http://schemas.openxmlformats.org/drawingml/2006/main" noGrp="1"/>
          </p:cNvSpPr>
          <p:nvPr/>
        </p:nvSpPr>
        <p:spPr>
          <a:xfrm xmlns:a="http://schemas.openxmlformats.org/drawingml/2006/main">
            <a:off x="6381750" y="1600200"/>
            <a:ext cx="527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5F6B76"/>
                </a:solidFill>
              </a:defRPr>
            </a:pPr>
            <a:r>
              <a:rPr sz="1275" b="1">
                <a:solidFill>
                  <a:srgbClr val="5F6B76"/>
                </a:solidFill>
              </a:rPr>
              <a:t>TOP LISTING OFFICES BY CLOSED VOLUME</a:t>
            </a:r>
          </a:p>
        </p:txBody>
      </p:sp>
      <p:sp>
        <p:nvSpPr>
          <p:cNvPr id="7" name="">
            <a:extLst xmlns:a="http://schemas.openxmlformats.org/drawingml/2006/main">
              <a:ext uri="{FF2B5EF4-FFF2-40B4-BE49-F238E27FC236}">
                <a16:creationId xmlns:a16="http://schemas.microsoft.com/office/drawing/2014/main" id="{374A1E87-AB6E-4BF7-AE36-681F6B2C43C0}"/>
              </a:ext>
            </a:extLst>
          </p:cNvPr>
          <p:cNvSpPr>
            <a:spLocks xmlns:a="http://schemas.openxmlformats.org/drawingml/2006/main" noGrp="1"/>
          </p:cNvSpPr>
          <p:nvPr/>
        </p:nvSpPr>
        <p:spPr>
          <a:xfrm xmlns:a="http://schemas.openxmlformats.org/drawingml/2006/main">
            <a:off x="533400" y="2095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1</a:t>
            </a:r>
          </a:p>
        </p:txBody>
      </p:sp>
      <p:sp>
        <p:nvSpPr>
          <p:cNvPr id="8" name="">
            <a:extLst xmlns:a="http://schemas.openxmlformats.org/drawingml/2006/main">
              <a:ext uri="{FF2B5EF4-FFF2-40B4-BE49-F238E27FC236}">
                <a16:creationId xmlns:a16="http://schemas.microsoft.com/office/drawing/2014/main" id="{E53A9D11-5A27-4F5D-8438-E8A0A0D5C051}"/>
              </a:ext>
            </a:extLst>
          </p:cNvPr>
          <p:cNvSpPr>
            <a:spLocks xmlns:a="http://schemas.openxmlformats.org/drawingml/2006/main" noGrp="1"/>
          </p:cNvSpPr>
          <p:nvPr/>
        </p:nvSpPr>
        <p:spPr>
          <a:xfrm xmlns:a="http://schemas.openxmlformats.org/drawingml/2006/main">
            <a:off x="914400" y="2095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Cesi Pagano</a:t>
            </a:r>
          </a:p>
        </p:txBody>
      </p:sp>
      <p:sp>
        <p:nvSpPr>
          <p:cNvPr id="9" name="">
            <a:extLst xmlns:a="http://schemas.openxmlformats.org/drawingml/2006/main">
              <a:ext uri="{FF2B5EF4-FFF2-40B4-BE49-F238E27FC236}">
                <a16:creationId xmlns:a16="http://schemas.microsoft.com/office/drawing/2014/main" id="{C857864C-DAC2-4E31-BFB0-DED309DF2767}"/>
              </a:ext>
            </a:extLst>
          </p:cNvPr>
          <p:cNvSpPr>
            <a:spLocks xmlns:a="http://schemas.openxmlformats.org/drawingml/2006/main" noGrp="1"/>
          </p:cNvSpPr>
          <p:nvPr/>
        </p:nvSpPr>
        <p:spPr>
          <a:xfrm xmlns:a="http://schemas.openxmlformats.org/drawingml/2006/main">
            <a:off x="3714750" y="2095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$127.8M, 132 units</a:t>
            </a:r>
          </a:p>
        </p:txBody>
      </p:sp>
      <p:sp>
        <p:nvSpPr>
          <p:cNvPr id="10" name="">
            <a:extLst xmlns:a="http://schemas.openxmlformats.org/drawingml/2006/main">
              <a:ext uri="{FF2B5EF4-FFF2-40B4-BE49-F238E27FC236}">
                <a16:creationId xmlns:a16="http://schemas.microsoft.com/office/drawing/2014/main" id="{6C8A784D-1804-4848-80DA-F16DDE8A3C1A}"/>
              </a:ext>
            </a:extLst>
          </p:cNvPr>
          <p:cNvSpPr>
            <a:spLocks xmlns:a="http://schemas.openxmlformats.org/drawingml/2006/main" noGrp="1"/>
          </p:cNvSpPr>
          <p:nvPr/>
        </p:nvSpPr>
        <p:spPr>
          <a:xfrm xmlns:a="http://schemas.openxmlformats.org/drawingml/2006/main">
            <a:off x="533400" y="2486025"/>
            <a:ext cx="518160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80474E-81DA-4448-A4F9-4A8420CAFC7D}"/>
              </a:ext>
            </a:extLst>
          </p:cNvPr>
          <p:cNvSpPr>
            <a:spLocks xmlns:a="http://schemas.openxmlformats.org/drawingml/2006/main" noGrp="1"/>
          </p:cNvSpPr>
          <p:nvPr/>
        </p:nvSpPr>
        <p:spPr>
          <a:xfrm xmlns:a="http://schemas.openxmlformats.org/drawingml/2006/main">
            <a:off x="533400" y="27813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2</a:t>
            </a:r>
          </a:p>
        </p:txBody>
      </p:sp>
      <p:sp>
        <p:nvSpPr>
          <p:cNvPr id="12" name="">
            <a:extLst xmlns:a="http://schemas.openxmlformats.org/drawingml/2006/main">
              <a:ext uri="{FF2B5EF4-FFF2-40B4-BE49-F238E27FC236}">
                <a16:creationId xmlns:a16="http://schemas.microsoft.com/office/drawing/2014/main" id="{43A66A4C-3BAF-4509-90F6-24E331356F98}"/>
              </a:ext>
            </a:extLst>
          </p:cNvPr>
          <p:cNvSpPr>
            <a:spLocks xmlns:a="http://schemas.openxmlformats.org/drawingml/2006/main" noGrp="1"/>
          </p:cNvSpPr>
          <p:nvPr/>
        </p:nvSpPr>
        <p:spPr>
          <a:xfrm xmlns:a="http://schemas.openxmlformats.org/drawingml/2006/main">
            <a:off x="914400" y="2781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Stephanie Vitacco</a:t>
            </a:r>
          </a:p>
        </p:txBody>
      </p:sp>
      <p:sp>
        <p:nvSpPr>
          <p:cNvPr id="13" name="">
            <a:extLst xmlns:a="http://schemas.openxmlformats.org/drawingml/2006/main">
              <a:ext uri="{FF2B5EF4-FFF2-40B4-BE49-F238E27FC236}">
                <a16:creationId xmlns:a16="http://schemas.microsoft.com/office/drawing/2014/main" id="{9DF593F5-26B1-4FDF-847B-FFC86D6EC50E}"/>
              </a:ext>
            </a:extLst>
          </p:cNvPr>
          <p:cNvSpPr>
            <a:spLocks xmlns:a="http://schemas.openxmlformats.org/drawingml/2006/main" noGrp="1"/>
          </p:cNvSpPr>
          <p:nvPr/>
        </p:nvSpPr>
        <p:spPr>
          <a:xfrm xmlns:a="http://schemas.openxmlformats.org/drawingml/2006/main">
            <a:off x="3714750" y="27813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$119.5M, 111 units</a:t>
            </a:r>
          </a:p>
        </p:txBody>
      </p:sp>
      <p:sp>
        <p:nvSpPr>
          <p:cNvPr id="14" name="">
            <a:extLst xmlns:a="http://schemas.openxmlformats.org/drawingml/2006/main">
              <a:ext uri="{FF2B5EF4-FFF2-40B4-BE49-F238E27FC236}">
                <a16:creationId xmlns:a16="http://schemas.microsoft.com/office/drawing/2014/main" id="{1754E035-C49E-493B-A6A5-51A66264AA6E}"/>
              </a:ext>
            </a:extLst>
          </p:cNvPr>
          <p:cNvSpPr>
            <a:spLocks xmlns:a="http://schemas.openxmlformats.org/drawingml/2006/main" noGrp="1"/>
          </p:cNvSpPr>
          <p:nvPr/>
        </p:nvSpPr>
        <p:spPr>
          <a:xfrm xmlns:a="http://schemas.openxmlformats.org/drawingml/2006/main">
            <a:off x="533400" y="3171825"/>
            <a:ext cx="518160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24A87D-5FDD-49FC-90C7-D258F7981245}"/>
              </a:ext>
            </a:extLst>
          </p:cNvPr>
          <p:cNvSpPr>
            <a:spLocks xmlns:a="http://schemas.openxmlformats.org/drawingml/2006/main" noGrp="1"/>
          </p:cNvSpPr>
          <p:nvPr/>
        </p:nvSpPr>
        <p:spPr>
          <a:xfrm xmlns:a="http://schemas.openxmlformats.org/drawingml/2006/main">
            <a:off x="533400" y="3467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3</a:t>
            </a:r>
          </a:p>
        </p:txBody>
      </p:sp>
      <p:sp>
        <p:nvSpPr>
          <p:cNvPr id="16" name="">
            <a:extLst xmlns:a="http://schemas.openxmlformats.org/drawingml/2006/main">
              <a:ext uri="{FF2B5EF4-FFF2-40B4-BE49-F238E27FC236}">
                <a16:creationId xmlns:a16="http://schemas.microsoft.com/office/drawing/2014/main" id="{61916A27-8DE8-4C5D-B38A-155E43426BC6}"/>
              </a:ext>
            </a:extLst>
          </p:cNvPr>
          <p:cNvSpPr>
            <a:spLocks xmlns:a="http://schemas.openxmlformats.org/drawingml/2006/main" noGrp="1"/>
          </p:cNvSpPr>
          <p:nvPr/>
        </p:nvSpPr>
        <p:spPr>
          <a:xfrm xmlns:a="http://schemas.openxmlformats.org/drawingml/2006/main">
            <a:off x="914400" y="34671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Tracy B Do</a:t>
            </a:r>
          </a:p>
        </p:txBody>
      </p:sp>
      <p:sp>
        <p:nvSpPr>
          <p:cNvPr id="17" name="">
            <a:extLst xmlns:a="http://schemas.openxmlformats.org/drawingml/2006/main">
              <a:ext uri="{FF2B5EF4-FFF2-40B4-BE49-F238E27FC236}">
                <a16:creationId xmlns:a16="http://schemas.microsoft.com/office/drawing/2014/main" id="{C97E61A3-1B2A-4F50-83D8-2AEE2F50F6FC}"/>
              </a:ext>
            </a:extLst>
          </p:cNvPr>
          <p:cNvSpPr>
            <a:spLocks xmlns:a="http://schemas.openxmlformats.org/drawingml/2006/main" noGrp="1"/>
          </p:cNvSpPr>
          <p:nvPr/>
        </p:nvSpPr>
        <p:spPr>
          <a:xfrm xmlns:a="http://schemas.openxmlformats.org/drawingml/2006/main">
            <a:off x="3714750" y="3467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$98.9M, 79 units</a:t>
            </a:r>
          </a:p>
        </p:txBody>
      </p:sp>
      <p:sp>
        <p:nvSpPr>
          <p:cNvPr id="18" name="">
            <a:extLst xmlns:a="http://schemas.openxmlformats.org/drawingml/2006/main">
              <a:ext uri="{FF2B5EF4-FFF2-40B4-BE49-F238E27FC236}">
                <a16:creationId xmlns:a16="http://schemas.microsoft.com/office/drawing/2014/main" id="{0CD16A2B-03C9-400E-85FF-4CDDE8776D1B}"/>
              </a:ext>
            </a:extLst>
          </p:cNvPr>
          <p:cNvSpPr>
            <a:spLocks xmlns:a="http://schemas.openxmlformats.org/drawingml/2006/main" noGrp="1"/>
          </p:cNvSpPr>
          <p:nvPr/>
        </p:nvSpPr>
        <p:spPr>
          <a:xfrm xmlns:a="http://schemas.openxmlformats.org/drawingml/2006/main">
            <a:off x="533400" y="3857625"/>
            <a:ext cx="518160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44CBEFF-664D-4422-A149-57748D1C6DA8}"/>
              </a:ext>
            </a:extLst>
          </p:cNvPr>
          <p:cNvSpPr>
            <a:spLocks xmlns:a="http://schemas.openxmlformats.org/drawingml/2006/main" noGrp="1"/>
          </p:cNvSpPr>
          <p:nvPr/>
        </p:nvSpPr>
        <p:spPr>
          <a:xfrm xmlns:a="http://schemas.openxmlformats.org/drawingml/2006/main">
            <a:off x="533400" y="41529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4</a:t>
            </a:r>
          </a:p>
        </p:txBody>
      </p:sp>
      <p:sp>
        <p:nvSpPr>
          <p:cNvPr id="20" name="">
            <a:extLst xmlns:a="http://schemas.openxmlformats.org/drawingml/2006/main">
              <a:ext uri="{FF2B5EF4-FFF2-40B4-BE49-F238E27FC236}">
                <a16:creationId xmlns:a16="http://schemas.microsoft.com/office/drawing/2014/main" id="{BA3672A1-DAAD-4167-A2DA-3F6FC7BB69EF}"/>
              </a:ext>
            </a:extLst>
          </p:cNvPr>
          <p:cNvSpPr>
            <a:spLocks xmlns:a="http://schemas.openxmlformats.org/drawingml/2006/main" noGrp="1"/>
          </p:cNvSpPr>
          <p:nvPr/>
        </p:nvSpPr>
        <p:spPr>
          <a:xfrm xmlns:a="http://schemas.openxmlformats.org/drawingml/2006/main">
            <a:off x="914400" y="4152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Stephanie Younger</a:t>
            </a:r>
          </a:p>
        </p:txBody>
      </p:sp>
      <p:sp>
        <p:nvSpPr>
          <p:cNvPr id="21" name="">
            <a:extLst xmlns:a="http://schemas.openxmlformats.org/drawingml/2006/main">
              <a:ext uri="{FF2B5EF4-FFF2-40B4-BE49-F238E27FC236}">
                <a16:creationId xmlns:a16="http://schemas.microsoft.com/office/drawing/2014/main" id="{D0A589D9-16DA-453D-9D99-A3345CCBCD11}"/>
              </a:ext>
            </a:extLst>
          </p:cNvPr>
          <p:cNvSpPr>
            <a:spLocks xmlns:a="http://schemas.openxmlformats.org/drawingml/2006/main" noGrp="1"/>
          </p:cNvSpPr>
          <p:nvPr/>
        </p:nvSpPr>
        <p:spPr>
          <a:xfrm xmlns:a="http://schemas.openxmlformats.org/drawingml/2006/main">
            <a:off x="3714750" y="4152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$97.4M, 70 units</a:t>
            </a:r>
          </a:p>
        </p:txBody>
      </p:sp>
      <p:sp>
        <p:nvSpPr>
          <p:cNvPr id="22" name="">
            <a:extLst xmlns:a="http://schemas.openxmlformats.org/drawingml/2006/main">
              <a:ext uri="{FF2B5EF4-FFF2-40B4-BE49-F238E27FC236}">
                <a16:creationId xmlns:a16="http://schemas.microsoft.com/office/drawing/2014/main" id="{FB975868-44CE-47A1-8182-9258C755952B}"/>
              </a:ext>
            </a:extLst>
          </p:cNvPr>
          <p:cNvSpPr>
            <a:spLocks xmlns:a="http://schemas.openxmlformats.org/drawingml/2006/main" noGrp="1"/>
          </p:cNvSpPr>
          <p:nvPr/>
        </p:nvSpPr>
        <p:spPr>
          <a:xfrm xmlns:a="http://schemas.openxmlformats.org/drawingml/2006/main">
            <a:off x="533400" y="4543425"/>
            <a:ext cx="518160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09F4E7-DCA8-43F6-AD0F-009626E53DAF}"/>
              </a:ext>
            </a:extLst>
          </p:cNvPr>
          <p:cNvSpPr>
            <a:spLocks xmlns:a="http://schemas.openxmlformats.org/drawingml/2006/main" noGrp="1"/>
          </p:cNvSpPr>
          <p:nvPr/>
        </p:nvSpPr>
        <p:spPr>
          <a:xfrm xmlns:a="http://schemas.openxmlformats.org/drawingml/2006/main">
            <a:off x="533400" y="48387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5</a:t>
            </a:r>
          </a:p>
        </p:txBody>
      </p:sp>
      <p:sp>
        <p:nvSpPr>
          <p:cNvPr id="24" name="">
            <a:extLst xmlns:a="http://schemas.openxmlformats.org/drawingml/2006/main">
              <a:ext uri="{FF2B5EF4-FFF2-40B4-BE49-F238E27FC236}">
                <a16:creationId xmlns:a16="http://schemas.microsoft.com/office/drawing/2014/main" id="{05ECC924-DF44-4819-8F36-3FDDF01B0B8B}"/>
              </a:ext>
            </a:extLst>
          </p:cNvPr>
          <p:cNvSpPr>
            <a:spLocks xmlns:a="http://schemas.openxmlformats.org/drawingml/2006/main" noGrp="1"/>
          </p:cNvSpPr>
          <p:nvPr/>
        </p:nvSpPr>
        <p:spPr>
          <a:xfrm xmlns:a="http://schemas.openxmlformats.org/drawingml/2006/main">
            <a:off x="914400" y="4838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Neal Weichel</a:t>
            </a:r>
          </a:p>
        </p:txBody>
      </p:sp>
      <p:sp>
        <p:nvSpPr>
          <p:cNvPr id="25" name="">
            <a:extLst xmlns:a="http://schemas.openxmlformats.org/drawingml/2006/main">
              <a:ext uri="{FF2B5EF4-FFF2-40B4-BE49-F238E27FC236}">
                <a16:creationId xmlns:a16="http://schemas.microsoft.com/office/drawing/2014/main" id="{B731F18E-ED3F-4B13-B5FF-3EB890D9787D}"/>
              </a:ext>
            </a:extLst>
          </p:cNvPr>
          <p:cNvSpPr>
            <a:spLocks xmlns:a="http://schemas.openxmlformats.org/drawingml/2006/main" noGrp="1"/>
          </p:cNvSpPr>
          <p:nvPr/>
        </p:nvSpPr>
        <p:spPr>
          <a:xfrm xmlns:a="http://schemas.openxmlformats.org/drawingml/2006/main">
            <a:off x="3714750" y="4838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$86.5M, 89 units</a:t>
            </a:r>
          </a:p>
        </p:txBody>
      </p:sp>
      <p:sp>
        <p:nvSpPr>
          <p:cNvPr id="26" name="">
            <a:extLst xmlns:a="http://schemas.openxmlformats.org/drawingml/2006/main">
              <a:ext uri="{FF2B5EF4-FFF2-40B4-BE49-F238E27FC236}">
                <a16:creationId xmlns:a16="http://schemas.microsoft.com/office/drawing/2014/main" id="{E50950BF-588D-4D3F-B65B-A794B7DC4518}"/>
              </a:ext>
            </a:extLst>
          </p:cNvPr>
          <p:cNvSpPr>
            <a:spLocks xmlns:a="http://schemas.openxmlformats.org/drawingml/2006/main" noGrp="1"/>
          </p:cNvSpPr>
          <p:nvPr/>
        </p:nvSpPr>
        <p:spPr>
          <a:xfrm xmlns:a="http://schemas.openxmlformats.org/drawingml/2006/main">
            <a:off x="533400" y="5229225"/>
            <a:ext cx="518160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FA81CDA-B473-4113-BF00-40E99D79DDC3}"/>
              </a:ext>
            </a:extLst>
          </p:cNvPr>
          <p:cNvSpPr>
            <a:spLocks xmlns:a="http://schemas.openxmlformats.org/drawingml/2006/main" noGrp="1"/>
          </p:cNvSpPr>
          <p:nvPr/>
        </p:nvSpPr>
        <p:spPr>
          <a:xfrm xmlns:a="http://schemas.openxmlformats.org/drawingml/2006/main">
            <a:off x="6381750" y="20955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1</a:t>
            </a:r>
          </a:p>
        </p:txBody>
      </p:sp>
      <p:sp>
        <p:nvSpPr>
          <p:cNvPr id="28" name="">
            <a:extLst xmlns:a="http://schemas.openxmlformats.org/drawingml/2006/main">
              <a:ext uri="{FF2B5EF4-FFF2-40B4-BE49-F238E27FC236}">
                <a16:creationId xmlns:a16="http://schemas.microsoft.com/office/drawing/2014/main" id="{0880D121-B3AF-465C-A1F9-B5F2A86A2FCA}"/>
              </a:ext>
            </a:extLst>
          </p:cNvPr>
          <p:cNvSpPr>
            <a:spLocks xmlns:a="http://schemas.openxmlformats.org/drawingml/2006/main" noGrp="1"/>
          </p:cNvSpPr>
          <p:nvPr/>
        </p:nvSpPr>
        <p:spPr>
          <a:xfrm xmlns:a="http://schemas.openxmlformats.org/drawingml/2006/main">
            <a:off x="6762750" y="20955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Compass</a:t>
            </a:r>
          </a:p>
        </p:txBody>
      </p:sp>
      <p:sp>
        <p:nvSpPr>
          <p:cNvPr id="29" name="">
            <a:extLst xmlns:a="http://schemas.openxmlformats.org/drawingml/2006/main">
              <a:ext uri="{FF2B5EF4-FFF2-40B4-BE49-F238E27FC236}">
                <a16:creationId xmlns:a16="http://schemas.microsoft.com/office/drawing/2014/main" id="{5AC0BCA0-99A4-4262-BBD1-E89449618903}"/>
              </a:ext>
            </a:extLst>
          </p:cNvPr>
          <p:cNvSpPr>
            <a:spLocks xmlns:a="http://schemas.openxmlformats.org/drawingml/2006/main" noGrp="1"/>
          </p:cNvSpPr>
          <p:nvPr/>
        </p:nvSpPr>
        <p:spPr>
          <a:xfrm xmlns:a="http://schemas.openxmlformats.org/drawingml/2006/main">
            <a:off x="954405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$3.1B, 2,552 units</a:t>
            </a:r>
          </a:p>
        </p:txBody>
      </p:sp>
      <p:sp>
        <p:nvSpPr>
          <p:cNvPr id="30" name="">
            <a:extLst xmlns:a="http://schemas.openxmlformats.org/drawingml/2006/main">
              <a:ext uri="{FF2B5EF4-FFF2-40B4-BE49-F238E27FC236}">
                <a16:creationId xmlns:a16="http://schemas.microsoft.com/office/drawing/2014/main" id="{E4643E7C-FD0F-48C1-8A7F-050F9FC4C65D}"/>
              </a:ext>
            </a:extLst>
          </p:cNvPr>
          <p:cNvSpPr>
            <a:spLocks xmlns:a="http://schemas.openxmlformats.org/drawingml/2006/main" noGrp="1"/>
          </p:cNvSpPr>
          <p:nvPr/>
        </p:nvSpPr>
        <p:spPr>
          <a:xfrm xmlns:a="http://schemas.openxmlformats.org/drawingml/2006/main">
            <a:off x="6381750" y="2486025"/>
            <a:ext cx="527685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7B3FA76-90C3-426C-A685-C62A8089D1B8}"/>
              </a:ext>
            </a:extLst>
          </p:cNvPr>
          <p:cNvSpPr>
            <a:spLocks xmlns:a="http://schemas.openxmlformats.org/drawingml/2006/main" noGrp="1"/>
          </p:cNvSpPr>
          <p:nvPr/>
        </p:nvSpPr>
        <p:spPr>
          <a:xfrm xmlns:a="http://schemas.openxmlformats.org/drawingml/2006/main">
            <a:off x="6381750" y="27813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2</a:t>
            </a:r>
          </a:p>
        </p:txBody>
      </p:sp>
      <p:sp>
        <p:nvSpPr>
          <p:cNvPr id="32" name="">
            <a:extLst xmlns:a="http://schemas.openxmlformats.org/drawingml/2006/main">
              <a:ext uri="{FF2B5EF4-FFF2-40B4-BE49-F238E27FC236}">
                <a16:creationId xmlns:a16="http://schemas.microsoft.com/office/drawing/2014/main" id="{77BCBE23-446B-4737-90C5-581BD811C624}"/>
              </a:ext>
            </a:extLst>
          </p:cNvPr>
          <p:cNvSpPr>
            <a:spLocks xmlns:a="http://schemas.openxmlformats.org/drawingml/2006/main" noGrp="1"/>
          </p:cNvSpPr>
          <p:nvPr/>
        </p:nvSpPr>
        <p:spPr>
          <a:xfrm xmlns:a="http://schemas.openxmlformats.org/drawingml/2006/main">
            <a:off x="6762750" y="2781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Coldwell Banker Realty</a:t>
            </a:r>
          </a:p>
        </p:txBody>
      </p:sp>
      <p:sp>
        <p:nvSpPr>
          <p:cNvPr id="33" name="">
            <a:extLst xmlns:a="http://schemas.openxmlformats.org/drawingml/2006/main">
              <a:ext uri="{FF2B5EF4-FFF2-40B4-BE49-F238E27FC236}">
                <a16:creationId xmlns:a16="http://schemas.microsoft.com/office/drawing/2014/main" id="{69F589A2-56FD-4042-871A-32789290917C}"/>
              </a:ext>
            </a:extLst>
          </p:cNvPr>
          <p:cNvSpPr>
            <a:spLocks xmlns:a="http://schemas.openxmlformats.org/drawingml/2006/main" noGrp="1"/>
          </p:cNvSpPr>
          <p:nvPr/>
        </p:nvSpPr>
        <p:spPr>
          <a:xfrm xmlns:a="http://schemas.openxmlformats.org/drawingml/2006/main">
            <a:off x="9544050" y="27813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$1.6B, 1,395 units</a:t>
            </a:r>
          </a:p>
        </p:txBody>
      </p:sp>
      <p:sp>
        <p:nvSpPr>
          <p:cNvPr id="34" name="">
            <a:extLst xmlns:a="http://schemas.openxmlformats.org/drawingml/2006/main">
              <a:ext uri="{FF2B5EF4-FFF2-40B4-BE49-F238E27FC236}">
                <a16:creationId xmlns:a16="http://schemas.microsoft.com/office/drawing/2014/main" id="{3648EF3C-2F9B-4C83-BFE8-23008279AF68}"/>
              </a:ext>
            </a:extLst>
          </p:cNvPr>
          <p:cNvSpPr>
            <a:spLocks xmlns:a="http://schemas.openxmlformats.org/drawingml/2006/main" noGrp="1"/>
          </p:cNvSpPr>
          <p:nvPr/>
        </p:nvSpPr>
        <p:spPr>
          <a:xfrm xmlns:a="http://schemas.openxmlformats.org/drawingml/2006/main">
            <a:off x="6381750" y="3171825"/>
            <a:ext cx="527685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A1A757A-89D7-40F9-A871-12A513D75123}"/>
              </a:ext>
            </a:extLst>
          </p:cNvPr>
          <p:cNvSpPr>
            <a:spLocks xmlns:a="http://schemas.openxmlformats.org/drawingml/2006/main" noGrp="1"/>
          </p:cNvSpPr>
          <p:nvPr/>
        </p:nvSpPr>
        <p:spPr>
          <a:xfrm xmlns:a="http://schemas.openxmlformats.org/drawingml/2006/main">
            <a:off x="6381750" y="34671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3</a:t>
            </a:r>
          </a:p>
        </p:txBody>
      </p:sp>
      <p:sp>
        <p:nvSpPr>
          <p:cNvPr id="36" name="">
            <a:extLst xmlns:a="http://schemas.openxmlformats.org/drawingml/2006/main">
              <a:ext uri="{FF2B5EF4-FFF2-40B4-BE49-F238E27FC236}">
                <a16:creationId xmlns:a16="http://schemas.microsoft.com/office/drawing/2014/main" id="{4E26BC94-6114-453E-AD63-9CF4CC9A867B}"/>
              </a:ext>
            </a:extLst>
          </p:cNvPr>
          <p:cNvSpPr>
            <a:spLocks xmlns:a="http://schemas.openxmlformats.org/drawingml/2006/main" noGrp="1"/>
          </p:cNvSpPr>
          <p:nvPr/>
        </p:nvSpPr>
        <p:spPr>
          <a:xfrm xmlns:a="http://schemas.openxmlformats.org/drawingml/2006/main">
            <a:off x="6762750" y="34671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Equity Union</a:t>
            </a:r>
          </a:p>
        </p:txBody>
      </p:sp>
      <p:sp>
        <p:nvSpPr>
          <p:cNvPr id="37" name="">
            <a:extLst xmlns:a="http://schemas.openxmlformats.org/drawingml/2006/main">
              <a:ext uri="{FF2B5EF4-FFF2-40B4-BE49-F238E27FC236}">
                <a16:creationId xmlns:a16="http://schemas.microsoft.com/office/drawing/2014/main" id="{B506C0F7-61F0-46CC-B29D-E6A1722AA3D0}"/>
              </a:ext>
            </a:extLst>
          </p:cNvPr>
          <p:cNvSpPr>
            <a:spLocks xmlns:a="http://schemas.openxmlformats.org/drawingml/2006/main" noGrp="1"/>
          </p:cNvSpPr>
          <p:nvPr/>
        </p:nvSpPr>
        <p:spPr>
          <a:xfrm xmlns:a="http://schemas.openxmlformats.org/drawingml/2006/main">
            <a:off x="9544050" y="3467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$873.6M, 814 units</a:t>
            </a:r>
          </a:p>
        </p:txBody>
      </p:sp>
      <p:sp>
        <p:nvSpPr>
          <p:cNvPr id="38" name="">
            <a:extLst xmlns:a="http://schemas.openxmlformats.org/drawingml/2006/main">
              <a:ext uri="{FF2B5EF4-FFF2-40B4-BE49-F238E27FC236}">
                <a16:creationId xmlns:a16="http://schemas.microsoft.com/office/drawing/2014/main" id="{E5426A65-EFE3-4362-837C-F373D16C737E}"/>
              </a:ext>
            </a:extLst>
          </p:cNvPr>
          <p:cNvSpPr>
            <a:spLocks xmlns:a="http://schemas.openxmlformats.org/drawingml/2006/main" noGrp="1"/>
          </p:cNvSpPr>
          <p:nvPr/>
        </p:nvSpPr>
        <p:spPr>
          <a:xfrm xmlns:a="http://schemas.openxmlformats.org/drawingml/2006/main">
            <a:off x="6381750" y="3857625"/>
            <a:ext cx="527685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292A76D-D205-4012-8BC0-0205FD11A66D}"/>
              </a:ext>
            </a:extLst>
          </p:cNvPr>
          <p:cNvSpPr>
            <a:spLocks xmlns:a="http://schemas.openxmlformats.org/drawingml/2006/main" noGrp="1"/>
          </p:cNvSpPr>
          <p:nvPr/>
        </p:nvSpPr>
        <p:spPr>
          <a:xfrm xmlns:a="http://schemas.openxmlformats.org/drawingml/2006/main">
            <a:off x="6381750" y="41529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4</a:t>
            </a:r>
          </a:p>
        </p:txBody>
      </p:sp>
      <p:sp>
        <p:nvSpPr>
          <p:cNvPr id="40" name="">
            <a:extLst xmlns:a="http://schemas.openxmlformats.org/drawingml/2006/main">
              <a:ext uri="{FF2B5EF4-FFF2-40B4-BE49-F238E27FC236}">
                <a16:creationId xmlns:a16="http://schemas.microsoft.com/office/drawing/2014/main" id="{3F4B87AA-8420-453C-9B52-64C994D31F18}"/>
              </a:ext>
            </a:extLst>
          </p:cNvPr>
          <p:cNvSpPr>
            <a:spLocks xmlns:a="http://schemas.openxmlformats.org/drawingml/2006/main" noGrp="1"/>
          </p:cNvSpPr>
          <p:nvPr/>
        </p:nvSpPr>
        <p:spPr>
          <a:xfrm xmlns:a="http://schemas.openxmlformats.org/drawingml/2006/main">
            <a:off x="6762750" y="41529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Rodeo Realty</a:t>
            </a:r>
          </a:p>
        </p:txBody>
      </p:sp>
      <p:sp>
        <p:nvSpPr>
          <p:cNvPr id="41" name="">
            <a:extLst xmlns:a="http://schemas.openxmlformats.org/drawingml/2006/main">
              <a:ext uri="{FF2B5EF4-FFF2-40B4-BE49-F238E27FC236}">
                <a16:creationId xmlns:a16="http://schemas.microsoft.com/office/drawing/2014/main" id="{D2165AE4-F118-472A-AAD8-4D3BF4BA7B8D}"/>
              </a:ext>
            </a:extLst>
          </p:cNvPr>
          <p:cNvSpPr>
            <a:spLocks xmlns:a="http://schemas.openxmlformats.org/drawingml/2006/main" noGrp="1"/>
          </p:cNvSpPr>
          <p:nvPr/>
        </p:nvSpPr>
        <p:spPr>
          <a:xfrm xmlns:a="http://schemas.openxmlformats.org/drawingml/2006/main">
            <a:off x="9544050" y="4152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$627.6M, 578 units</a:t>
            </a:r>
          </a:p>
        </p:txBody>
      </p:sp>
      <p:sp>
        <p:nvSpPr>
          <p:cNvPr id="42" name="">
            <a:extLst xmlns:a="http://schemas.openxmlformats.org/drawingml/2006/main">
              <a:ext uri="{FF2B5EF4-FFF2-40B4-BE49-F238E27FC236}">
                <a16:creationId xmlns:a16="http://schemas.microsoft.com/office/drawing/2014/main" id="{DB8B7EBE-1143-46AD-AA23-6E721090D4AF}"/>
              </a:ext>
            </a:extLst>
          </p:cNvPr>
          <p:cNvSpPr>
            <a:spLocks xmlns:a="http://schemas.openxmlformats.org/drawingml/2006/main" noGrp="1"/>
          </p:cNvSpPr>
          <p:nvPr/>
        </p:nvSpPr>
        <p:spPr>
          <a:xfrm xmlns:a="http://schemas.openxmlformats.org/drawingml/2006/main">
            <a:off x="6381750" y="4543425"/>
            <a:ext cx="527685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F1D2843-32C7-4040-B5BD-A6EB02CB2F43}"/>
              </a:ext>
            </a:extLst>
          </p:cNvPr>
          <p:cNvSpPr>
            <a:spLocks xmlns:a="http://schemas.openxmlformats.org/drawingml/2006/main" noGrp="1"/>
          </p:cNvSpPr>
          <p:nvPr/>
        </p:nvSpPr>
        <p:spPr>
          <a:xfrm xmlns:a="http://schemas.openxmlformats.org/drawingml/2006/main">
            <a:off x="6381750" y="483870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1">
                <a:solidFill>
                  <a:srgbClr val="2878B8"/>
                </a:solidFill>
              </a:defRPr>
            </a:pPr>
            <a:r>
              <a:rPr sz="1425" b="1">
                <a:solidFill>
                  <a:srgbClr val="2878B8"/>
                </a:solidFill>
              </a:rPr>
              <a:t>5</a:t>
            </a:r>
          </a:p>
        </p:txBody>
      </p:sp>
      <p:sp>
        <p:nvSpPr>
          <p:cNvPr id="44" name="">
            <a:extLst xmlns:a="http://schemas.openxmlformats.org/drawingml/2006/main">
              <a:ext uri="{FF2B5EF4-FFF2-40B4-BE49-F238E27FC236}">
                <a16:creationId xmlns:a16="http://schemas.microsoft.com/office/drawing/2014/main" id="{2938C462-D43E-44D7-B42E-1F4D286A8C15}"/>
              </a:ext>
            </a:extLst>
          </p:cNvPr>
          <p:cNvSpPr>
            <a:spLocks xmlns:a="http://schemas.openxmlformats.org/drawingml/2006/main" noGrp="1"/>
          </p:cNvSpPr>
          <p:nvPr/>
        </p:nvSpPr>
        <p:spPr>
          <a:xfrm xmlns:a="http://schemas.openxmlformats.org/drawingml/2006/main">
            <a:off x="6762750" y="48387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B2530"/>
                </a:solidFill>
              </a:defRPr>
            </a:pPr>
            <a:r>
              <a:rPr sz="1350" b="1">
                <a:solidFill>
                  <a:srgbClr val="1B2530"/>
                </a:solidFill>
              </a:rPr>
              <a:t>Keller Williams Realty</a:t>
            </a:r>
          </a:p>
        </p:txBody>
      </p:sp>
      <p:sp>
        <p:nvSpPr>
          <p:cNvPr id="45" name="">
            <a:extLst xmlns:a="http://schemas.openxmlformats.org/drawingml/2006/main">
              <a:ext uri="{FF2B5EF4-FFF2-40B4-BE49-F238E27FC236}">
                <a16:creationId xmlns:a16="http://schemas.microsoft.com/office/drawing/2014/main" id="{E2FC82ED-A44B-4B1F-BBAA-9E0B99239591}"/>
              </a:ext>
            </a:extLst>
          </p:cNvPr>
          <p:cNvSpPr>
            <a:spLocks xmlns:a="http://schemas.openxmlformats.org/drawingml/2006/main" noGrp="1"/>
          </p:cNvSpPr>
          <p:nvPr/>
        </p:nvSpPr>
        <p:spPr>
          <a:xfrm xmlns:a="http://schemas.openxmlformats.org/drawingml/2006/main">
            <a:off x="9544050" y="4838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r">
              <a:defRPr sz="1275" b="1">
                <a:solidFill>
                  <a:srgbClr val="173A5E"/>
                </a:solidFill>
              </a:defRPr>
            </a:pPr>
            <a:r>
              <a:rPr sz="1275" b="1">
                <a:solidFill>
                  <a:srgbClr val="173A5E"/>
                </a:solidFill>
              </a:rPr>
              <a:t>$620.6M, 598 units</a:t>
            </a:r>
          </a:p>
        </p:txBody>
      </p:sp>
      <p:sp>
        <p:nvSpPr>
          <p:cNvPr id="46" name="">
            <a:extLst xmlns:a="http://schemas.openxmlformats.org/drawingml/2006/main">
              <a:ext uri="{FF2B5EF4-FFF2-40B4-BE49-F238E27FC236}">
                <a16:creationId xmlns:a16="http://schemas.microsoft.com/office/drawing/2014/main" id="{43773B07-48C2-4A84-9E93-25CFF536A979}"/>
              </a:ext>
            </a:extLst>
          </p:cNvPr>
          <p:cNvSpPr>
            <a:spLocks xmlns:a="http://schemas.openxmlformats.org/drawingml/2006/main" noGrp="1"/>
          </p:cNvSpPr>
          <p:nvPr/>
        </p:nvSpPr>
        <p:spPr>
          <a:xfrm xmlns:a="http://schemas.openxmlformats.org/drawingml/2006/main">
            <a:off x="6381750" y="5229225"/>
            <a:ext cx="5276850" cy="9525"/>
          </a:xfrm>
          <a:prstGeom xmlns:a="http://schemas.openxmlformats.org/drawingml/2006/main" prst="rect">
            <a:avLst/>
          </a:prstGeom>
          <a:solidFill xmlns:a="http://schemas.openxmlformats.org/drawingml/2006/main">
            <a:srgbClr val="D7E0E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5090FD5-8AC2-4AEA-BF29-E5CF3B811C35}"/>
              </a:ext>
            </a:extLst>
          </p:cNvPr>
          <p:cNvSpPr>
            <a:spLocks xmlns:a="http://schemas.openxmlformats.org/drawingml/2006/main" noGrp="1"/>
          </p:cNvSpPr>
          <p:nvPr/>
        </p:nvSpPr>
        <p:spPr>
          <a:xfrm xmlns:a="http://schemas.openxmlformats.org/drawingml/2006/main">
            <a:off x="533400" y="645795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F6B76"/>
                </a:solidFill>
              </a:defRPr>
            </a:pPr>
            <a:r>
              <a:rPr sz="900" b="0">
                <a:solidFill>
                  <a:srgbClr val="5F6B76"/>
                </a:solidFill>
              </a:rPr>
              <a:t>Source: CRMLS Residential exports. IQR-filtered sales. January 2024 to June 2026.</a:t>
            </a:r>
          </a:p>
        </p:txBody>
      </p:sp>
    </p:spTree>
    <p:extLst>
      <p:ext uri="{BB962C8B-B14F-4D97-AF65-F5344CB8AC3E}">
        <p14:creationId xmlns:p14="http://schemas.microsoft.com/office/powerpoint/2010/main" val="1604284983"/>
      </p:ext>
    </p:extLst>
  </p:cSld>
</p:sld>
</file>

<file path=ppt/slides/slide6.xml><?xml version="1.0" encoding="utf-8"?>
<p:sld xmlns:p="http://schemas.openxmlformats.org/presentationml/2006/main">
  <p:cSld>
    <p:bg>
      <p:bgPr>
        <a:solidFill xmlns:a="http://schemas.openxmlformats.org/drawingml/2006/main">
          <a:srgbClr val="173A5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A40E09B-C07A-4731-9D7E-289D0A60E714}"/>
              </a:ext>
            </a:extLst>
          </p:cNvPr>
          <p:cNvSpPr>
            <a:spLocks xmlns:a="http://schemas.openxmlformats.org/drawingml/2006/main" noGrp="1"/>
          </p:cNvSpPr>
          <p:nvPr/>
        </p:nvSpPr>
        <p:spPr>
          <a:xfrm xmlns:a="http://schemas.openxmlformats.org/drawingml/2006/main">
            <a:off x="533400" y="4381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DDEFF8"/>
                </a:solidFill>
              </a:defRPr>
            </a:pPr>
            <a:r>
              <a:rPr sz="1200" b="1">
                <a:solidFill>
                  <a:srgbClr val="DDEFF8"/>
                </a:solidFill>
              </a:rPr>
              <a:t>KEY TAKEAWAYS</a:t>
            </a:r>
          </a:p>
        </p:txBody>
      </p:sp>
      <p:sp>
        <p:nvSpPr>
          <p:cNvPr id="2" name="">
            <a:extLst xmlns:a="http://schemas.openxmlformats.org/drawingml/2006/main">
              <a:ext uri="{FF2B5EF4-FFF2-40B4-BE49-F238E27FC236}">
                <a16:creationId xmlns:a16="http://schemas.microsoft.com/office/drawing/2014/main" id="{C6ED2FCB-1944-49B2-A822-4DBAD5D027C4}"/>
              </a:ext>
            </a:extLst>
          </p:cNvPr>
          <p:cNvSpPr>
            <a:spLocks xmlns:a="http://schemas.openxmlformats.org/drawingml/2006/main" noGrp="1"/>
          </p:cNvSpPr>
          <p:nvPr/>
        </p:nvSpPr>
        <p:spPr>
          <a:xfrm xmlns:a="http://schemas.openxmlformats.org/drawingml/2006/main">
            <a:off x="533400" y="9144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a:solidFill>
                  <a:srgbClr val="FFFFFF"/>
                </a:solidFill>
              </a:defRPr>
            </a:pPr>
            <a:r>
              <a:rPr sz="3450" b="1">
                <a:solidFill>
                  <a:srgbClr val="FFFFFF"/>
                </a:solidFill>
              </a:rPr>
              <a:t>Implications for market participants</a:t>
            </a:r>
          </a:p>
        </p:txBody>
      </p:sp>
      <p:sp>
        <p:nvSpPr>
          <p:cNvPr id="3" name="">
            <a:extLst xmlns:a="http://schemas.openxmlformats.org/drawingml/2006/main">
              <a:ext uri="{FF2B5EF4-FFF2-40B4-BE49-F238E27FC236}">
                <a16:creationId xmlns:a16="http://schemas.microsoft.com/office/drawing/2014/main" id="{382D832B-C31F-4F6E-A9B5-446D97D81715}"/>
              </a:ext>
            </a:extLst>
          </p:cNvPr>
          <p:cNvSpPr>
            <a:spLocks xmlns:a="http://schemas.openxmlformats.org/drawingml/2006/main" noGrp="1"/>
          </p:cNvSpPr>
          <p:nvPr/>
        </p:nvSpPr>
        <p:spPr>
          <a:xfrm xmlns:a="http://schemas.openxmlformats.org/drawingml/2006/main">
            <a:off x="533400" y="2381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DDEFF8"/>
                </a:solidFill>
              </a:defRPr>
            </a:pPr>
            <a:r>
              <a:rPr sz="1350" b="1">
                <a:solidFill>
                  <a:srgbClr val="DDEFF8"/>
                </a:solidFill>
              </a:rPr>
              <a:t>SELLERS</a:t>
            </a:r>
          </a:p>
        </p:txBody>
      </p:sp>
      <p:sp>
        <p:nvSpPr>
          <p:cNvPr id="4" name="">
            <a:extLst xmlns:a="http://schemas.openxmlformats.org/drawingml/2006/main">
              <a:ext uri="{FF2B5EF4-FFF2-40B4-BE49-F238E27FC236}">
                <a16:creationId xmlns:a16="http://schemas.microsoft.com/office/drawing/2014/main" id="{D1749EB3-12A3-4FEA-9882-8C50D5B02160}"/>
              </a:ext>
            </a:extLst>
          </p:cNvPr>
          <p:cNvSpPr>
            <a:spLocks xmlns:a="http://schemas.openxmlformats.org/drawingml/2006/main" noGrp="1"/>
          </p:cNvSpPr>
          <p:nvPr/>
        </p:nvSpPr>
        <p:spPr>
          <a:xfrm xmlns:a="http://schemas.openxmlformats.org/drawingml/2006/main">
            <a:off x="2419350" y="236220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FFFFFF"/>
                </a:solidFill>
              </a:defRPr>
            </a:pPr>
            <a:r>
              <a:rPr sz="1725" b="0">
                <a:solidFill>
                  <a:srgbClr val="FFFFFF"/>
                </a:solidFill>
              </a:rPr>
              <a:t>Current comparable sales matter more when market time increases.</a:t>
            </a:r>
          </a:p>
        </p:txBody>
      </p:sp>
      <p:sp>
        <p:nvSpPr>
          <p:cNvPr id="5" name="">
            <a:extLst xmlns:a="http://schemas.openxmlformats.org/drawingml/2006/main">
              <a:ext uri="{FF2B5EF4-FFF2-40B4-BE49-F238E27FC236}">
                <a16:creationId xmlns:a16="http://schemas.microsoft.com/office/drawing/2014/main" id="{1B7D96CC-64D4-42C7-A37D-6E08DA54BFB3}"/>
              </a:ext>
            </a:extLst>
          </p:cNvPr>
          <p:cNvSpPr>
            <a:spLocks xmlns:a="http://schemas.openxmlformats.org/drawingml/2006/main" noGrp="1"/>
          </p:cNvSpPr>
          <p:nvPr/>
        </p:nvSpPr>
        <p:spPr>
          <a:xfrm xmlns:a="http://schemas.openxmlformats.org/drawingml/2006/main">
            <a:off x="533400" y="3162300"/>
            <a:ext cx="10363200" cy="9525"/>
          </a:xfrm>
          <a:prstGeom xmlns:a="http://schemas.openxmlformats.org/drawingml/2006/main" prst="rect">
            <a:avLst/>
          </a:prstGeom>
          <a:solidFill xmlns:a="http://schemas.openxmlformats.org/drawingml/2006/main">
            <a:srgbClr val="45617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3F2453-BF55-4509-A37E-0850934D2F21}"/>
              </a:ext>
            </a:extLst>
          </p:cNvPr>
          <p:cNvSpPr>
            <a:spLocks xmlns:a="http://schemas.openxmlformats.org/drawingml/2006/main" noGrp="1"/>
          </p:cNvSpPr>
          <p:nvPr/>
        </p:nvSpPr>
        <p:spPr>
          <a:xfrm xmlns:a="http://schemas.openxmlformats.org/drawingml/2006/main">
            <a:off x="533400" y="3505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DDEFF8"/>
                </a:solidFill>
              </a:defRPr>
            </a:pPr>
            <a:r>
              <a:rPr sz="1350" b="1">
                <a:solidFill>
                  <a:srgbClr val="DDEFF8"/>
                </a:solidFill>
              </a:rPr>
              <a:t>BUYERS</a:t>
            </a:r>
          </a:p>
        </p:txBody>
      </p:sp>
      <p:sp>
        <p:nvSpPr>
          <p:cNvPr id="7" name="">
            <a:extLst xmlns:a="http://schemas.openxmlformats.org/drawingml/2006/main">
              <a:ext uri="{FF2B5EF4-FFF2-40B4-BE49-F238E27FC236}">
                <a16:creationId xmlns:a16="http://schemas.microsoft.com/office/drawing/2014/main" id="{364F1F68-61E9-48E7-B495-75D29F749712}"/>
              </a:ext>
            </a:extLst>
          </p:cNvPr>
          <p:cNvSpPr>
            <a:spLocks xmlns:a="http://schemas.openxmlformats.org/drawingml/2006/main" noGrp="1"/>
          </p:cNvSpPr>
          <p:nvPr/>
        </p:nvSpPr>
        <p:spPr>
          <a:xfrm xmlns:a="http://schemas.openxmlformats.org/drawingml/2006/main">
            <a:off x="2419350" y="348615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FFFFFF"/>
                </a:solidFill>
              </a:defRPr>
            </a:pPr>
            <a:r>
              <a:rPr sz="1725" b="0">
                <a:solidFill>
                  <a:srgbClr val="FFFFFF"/>
                </a:solidFill>
              </a:rPr>
              <a:t>The slower pace provides more time to compare alternatives and negotiate carefully.</a:t>
            </a:r>
          </a:p>
        </p:txBody>
      </p:sp>
      <p:sp>
        <p:nvSpPr>
          <p:cNvPr id="8" name="">
            <a:extLst xmlns:a="http://schemas.openxmlformats.org/drawingml/2006/main">
              <a:ext uri="{FF2B5EF4-FFF2-40B4-BE49-F238E27FC236}">
                <a16:creationId xmlns:a16="http://schemas.microsoft.com/office/drawing/2014/main" id="{3BF7FBA8-5517-4EAC-9ED5-3B00EE117EDD}"/>
              </a:ext>
            </a:extLst>
          </p:cNvPr>
          <p:cNvSpPr>
            <a:spLocks xmlns:a="http://schemas.openxmlformats.org/drawingml/2006/main" noGrp="1"/>
          </p:cNvSpPr>
          <p:nvPr/>
        </p:nvSpPr>
        <p:spPr>
          <a:xfrm xmlns:a="http://schemas.openxmlformats.org/drawingml/2006/main">
            <a:off x="533400" y="4286250"/>
            <a:ext cx="10363200" cy="9525"/>
          </a:xfrm>
          <a:prstGeom xmlns:a="http://schemas.openxmlformats.org/drawingml/2006/main" prst="rect">
            <a:avLst/>
          </a:prstGeom>
          <a:solidFill xmlns:a="http://schemas.openxmlformats.org/drawingml/2006/main">
            <a:srgbClr val="4561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4F6EEF-23AA-49BF-B428-293B36C64380}"/>
              </a:ext>
            </a:extLst>
          </p:cNvPr>
          <p:cNvSpPr>
            <a:spLocks xmlns:a="http://schemas.openxmlformats.org/drawingml/2006/main" noGrp="1"/>
          </p:cNvSpPr>
          <p:nvPr/>
        </p:nvSpPr>
        <p:spPr>
          <a:xfrm xmlns:a="http://schemas.openxmlformats.org/drawingml/2006/main">
            <a:off x="533400" y="46291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DDEFF8"/>
                </a:solidFill>
              </a:defRPr>
            </a:pPr>
            <a:r>
              <a:rPr sz="1350" b="1">
                <a:solidFill>
                  <a:srgbClr val="DDEFF8"/>
                </a:solidFill>
              </a:rPr>
              <a:t>BROKERAGES</a:t>
            </a:r>
          </a:p>
        </p:txBody>
      </p:sp>
      <p:sp>
        <p:nvSpPr>
          <p:cNvPr id="10" name="">
            <a:extLst xmlns:a="http://schemas.openxmlformats.org/drawingml/2006/main">
              <a:ext uri="{FF2B5EF4-FFF2-40B4-BE49-F238E27FC236}">
                <a16:creationId xmlns:a16="http://schemas.microsoft.com/office/drawing/2014/main" id="{4F212BBB-084A-471F-837C-DFD7CCC91FFB}"/>
              </a:ext>
            </a:extLst>
          </p:cNvPr>
          <p:cNvSpPr>
            <a:spLocks xmlns:a="http://schemas.openxmlformats.org/drawingml/2006/main" noGrp="1"/>
          </p:cNvSpPr>
          <p:nvPr/>
        </p:nvSpPr>
        <p:spPr>
          <a:xfrm xmlns:a="http://schemas.openxmlformats.org/drawingml/2006/main">
            <a:off x="2419350" y="4610100"/>
            <a:ext cx="847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FFFFFF"/>
                </a:solidFill>
              </a:defRPr>
            </a:pPr>
            <a:r>
              <a:rPr sz="1725" b="0">
                <a:solidFill>
                  <a:srgbClr val="FFFFFF"/>
                </a:solidFill>
              </a:rPr>
              <a:t>ZIP code and property subtype results reveal local opportunities that countywide rankings can hide.</a:t>
            </a:r>
          </a:p>
        </p:txBody>
      </p:sp>
      <p:sp>
        <p:nvSpPr>
          <p:cNvPr id="11" name="">
            <a:extLst xmlns:a="http://schemas.openxmlformats.org/drawingml/2006/main">
              <a:ext uri="{FF2B5EF4-FFF2-40B4-BE49-F238E27FC236}">
                <a16:creationId xmlns:a16="http://schemas.microsoft.com/office/drawing/2014/main" id="{4A770A57-A6A6-4684-BB4B-D2989A6C2C2D}"/>
              </a:ext>
            </a:extLst>
          </p:cNvPr>
          <p:cNvSpPr>
            <a:spLocks xmlns:a="http://schemas.openxmlformats.org/drawingml/2006/main" noGrp="1"/>
          </p:cNvSpPr>
          <p:nvPr/>
        </p:nvSpPr>
        <p:spPr>
          <a:xfrm xmlns:a="http://schemas.openxmlformats.org/drawingml/2006/main">
            <a:off x="533400" y="59626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DDEFF8"/>
                </a:solidFill>
              </a:defRPr>
            </a:pPr>
            <a:r>
              <a:rPr sz="1350" b="1">
                <a:solidFill>
                  <a:srgbClr val="DDEFF8"/>
                </a:solidFill>
              </a:rPr>
              <a:t>Use the interactive workbooks to test these findings by ZIP code and property subtype.</a:t>
            </a:r>
          </a:p>
        </p:txBody>
      </p:sp>
    </p:spTree>
    <p:extLst>
      <p:ext uri="{BB962C8B-B14F-4D97-AF65-F5344CB8AC3E}">
        <p14:creationId xmlns:p14="http://schemas.microsoft.com/office/powerpoint/2010/main" val="224739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2026-09-15T15:55:17.1110000Z</dcterms:created>
  <dcterms:modified xsi:type="dcterms:W3CDTF">2026-09-15T15:55:17.1110000Z</dcterms:modified>
</coreProperties>
</file>